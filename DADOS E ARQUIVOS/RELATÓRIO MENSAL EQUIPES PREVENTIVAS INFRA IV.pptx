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147483604" r:id="rId2"/>
    <p:sldId id="2147483607" r:id="rId3"/>
    <p:sldId id="2147483606" r:id="rId4"/>
    <p:sldId id="2147483605" r:id="rId5"/>
    <p:sldId id="2147483587" r:id="rId6"/>
    <p:sldId id="2147483603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dirty="0"/>
              <a:t>PRODUTIVIDADE MÉDIA EQUIPES PREVENTIVAS JANEIRO</a:t>
            </a:r>
          </a:p>
        </c:rich>
      </c:tx>
      <c:layout>
        <c:manualLayout>
          <c:xMode val="edge"/>
          <c:yMode val="edge"/>
          <c:x val="0.1435079922678260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Planilha1!$C$1</c:f>
              <c:strCache>
                <c:ptCount val="1"/>
                <c:pt idx="0">
                  <c:v>MAB</c:v>
                </c:pt>
              </c:strCache>
            </c:strRef>
          </c:tx>
          <c:spPr>
            <a:solidFill>
              <a:srgbClr val="009999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9.3750000000000569E-3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691-42F9-9C1F-7BDC210C2811}"/>
                </c:ext>
              </c:extLst>
            </c:dLbl>
            <c:dLbl>
              <c:idx val="3"/>
              <c:layout>
                <c:manualLayout>
                  <c:x val="-1.4062500000000115E-2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691-42F9-9C1F-7BDC210C28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Planilha1!$A$2:$B$5</c:f>
              <c:multiLvlStrCache>
                <c:ptCount val="4"/>
                <c:lvl>
                  <c:pt idx="0">
                    <c:v>M²</c:v>
                  </c:pt>
                  <c:pt idx="1">
                    <c:v>M</c:v>
                  </c:pt>
                  <c:pt idx="2">
                    <c:v>M</c:v>
                  </c:pt>
                  <c:pt idx="3">
                    <c:v>M</c:v>
                  </c:pt>
                </c:lvl>
                <c:lvl>
                  <c:pt idx="0">
                    <c:v>ROÇADA  </c:v>
                  </c:pt>
                  <c:pt idx="1">
                    <c:v>LIMPEZA DE CANALETA (MEIA/PLENA SEÇÃO)</c:v>
                  </c:pt>
                  <c:pt idx="2">
                    <c:v>LIMPEZA DE VALETA, SARJETAS E MEIO FIOS</c:v>
                  </c:pt>
                  <c:pt idx="3">
                    <c:v>REC. DE DRENAGEM (CANALETA E MEIO-FIO)</c:v>
                  </c:pt>
                </c:lvl>
              </c:multiLvlStrCache>
            </c:multiLvlStrRef>
          </c:cat>
          <c:val>
            <c:numRef>
              <c:f>Planilha1!$C$2:$C$5</c:f>
              <c:numCache>
                <c:formatCode>0.00</c:formatCode>
                <c:ptCount val="4"/>
                <c:pt idx="0">
                  <c:v>598</c:v>
                </c:pt>
                <c:pt idx="1">
                  <c:v>56</c:v>
                </c:pt>
                <c:pt idx="2">
                  <c:v>3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6B-4DFE-8882-9685C5B233C9}"/>
            </c:ext>
          </c:extLst>
        </c:ser>
        <c:ser>
          <c:idx val="1"/>
          <c:order val="1"/>
          <c:tx>
            <c:strRef>
              <c:f>Planilha1!$D$1</c:f>
              <c:strCache>
                <c:ptCount val="1"/>
                <c:pt idx="0">
                  <c:v>PBA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1.40625E-2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691-42F9-9C1F-7BDC210C28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Planilha1!$A$2:$B$5</c:f>
              <c:multiLvlStrCache>
                <c:ptCount val="4"/>
                <c:lvl>
                  <c:pt idx="0">
                    <c:v>M²</c:v>
                  </c:pt>
                  <c:pt idx="1">
                    <c:v>M</c:v>
                  </c:pt>
                  <c:pt idx="2">
                    <c:v>M</c:v>
                  </c:pt>
                  <c:pt idx="3">
                    <c:v>M</c:v>
                  </c:pt>
                </c:lvl>
                <c:lvl>
                  <c:pt idx="0">
                    <c:v>ROÇADA  </c:v>
                  </c:pt>
                  <c:pt idx="1">
                    <c:v>LIMPEZA DE CANALETA (MEIA/PLENA SEÇÃO)</c:v>
                  </c:pt>
                  <c:pt idx="2">
                    <c:v>LIMPEZA DE VALETA, SARJETAS E MEIO FIOS</c:v>
                  </c:pt>
                  <c:pt idx="3">
                    <c:v>REC. DE DRENAGEM (CANALETA E MEIO-FIO)</c:v>
                  </c:pt>
                </c:lvl>
              </c:multiLvlStrCache>
            </c:multiLvlStrRef>
          </c:cat>
          <c:val>
            <c:numRef>
              <c:f>Planilha1!$D$2:$D$5</c:f>
              <c:numCache>
                <c:formatCode>0.00</c:formatCode>
                <c:ptCount val="4"/>
                <c:pt idx="0">
                  <c:v>357</c:v>
                </c:pt>
                <c:pt idx="1">
                  <c:v>17</c:v>
                </c:pt>
                <c:pt idx="2">
                  <c:v>32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6B-4DFE-8882-9685C5B233C9}"/>
            </c:ext>
          </c:extLst>
        </c:ser>
        <c:ser>
          <c:idx val="2"/>
          <c:order val="2"/>
          <c:tx>
            <c:strRef>
              <c:f>Planilha1!$E$1</c:f>
              <c:strCache>
                <c:ptCount val="1"/>
                <c:pt idx="0">
                  <c:v>RAMAL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2.34375E-2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691-42F9-9C1F-7BDC210C2811}"/>
                </c:ext>
              </c:extLst>
            </c:dLbl>
            <c:dLbl>
              <c:idx val="3"/>
              <c:layout>
                <c:manualLayout>
                  <c:x val="2.34375E-2"/>
                  <c:y val="7.031249567467337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691-42F9-9C1F-7BDC210C2811}"/>
                </c:ext>
              </c:extLst>
            </c:dLbl>
            <c:dLbl>
              <c:idx val="4"/>
              <c:layout>
                <c:manualLayout>
                  <c:x val="2.5000000000000001E-2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691-42F9-9C1F-7BDC210C28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Planilha1!$A$2:$B$5</c:f>
              <c:multiLvlStrCache>
                <c:ptCount val="4"/>
                <c:lvl>
                  <c:pt idx="0">
                    <c:v>M²</c:v>
                  </c:pt>
                  <c:pt idx="1">
                    <c:v>M</c:v>
                  </c:pt>
                  <c:pt idx="2">
                    <c:v>M</c:v>
                  </c:pt>
                  <c:pt idx="3">
                    <c:v>M</c:v>
                  </c:pt>
                </c:lvl>
                <c:lvl>
                  <c:pt idx="0">
                    <c:v>ROÇADA  </c:v>
                  </c:pt>
                  <c:pt idx="1">
                    <c:v>LIMPEZA DE CANALETA (MEIA/PLENA SEÇÃO)</c:v>
                  </c:pt>
                  <c:pt idx="2">
                    <c:v>LIMPEZA DE VALETA, SARJETAS E MEIO FIOS</c:v>
                  </c:pt>
                  <c:pt idx="3">
                    <c:v>REC. DE DRENAGEM (CANALETA E MEIO-FIO)</c:v>
                  </c:pt>
                </c:lvl>
              </c:multiLvlStrCache>
            </c:multiLvlStrRef>
          </c:cat>
          <c:val>
            <c:numRef>
              <c:f>Planilha1!$E$2:$E$5</c:f>
              <c:numCache>
                <c:formatCode>0.00</c:formatCode>
                <c:ptCount val="4"/>
                <c:pt idx="0">
                  <c:v>152</c:v>
                </c:pt>
                <c:pt idx="1">
                  <c:v>77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6B-4DFE-8882-9685C5B233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756645695"/>
        <c:axId val="1756647135"/>
      </c:barChart>
      <c:catAx>
        <c:axId val="17566456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56647135"/>
        <c:crosses val="autoZero"/>
        <c:auto val="1"/>
        <c:lblAlgn val="ctr"/>
        <c:lblOffset val="100"/>
        <c:noMultiLvlLbl val="0"/>
      </c:catAx>
      <c:valAx>
        <c:axId val="1756647135"/>
        <c:scaling>
          <c:orientation val="minMax"/>
          <c:max val="6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56645695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600" dirty="0"/>
              <a:t>PRODUTIVIDADE MÉDIA EQUIPES PREVENTIVAS FEVEREIRO</a:t>
            </a:r>
          </a:p>
        </c:rich>
      </c:tx>
      <c:layout>
        <c:manualLayout>
          <c:xMode val="edge"/>
          <c:yMode val="edge"/>
          <c:x val="0.1435079922678260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9.7076030903007454E-2"/>
          <c:y val="0.12346146208054304"/>
          <c:w val="0.88498070167551846"/>
          <c:h val="0.6579557471159828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Planilha1!$C$1</c:f>
              <c:strCache>
                <c:ptCount val="1"/>
                <c:pt idx="0">
                  <c:v>MAB</c:v>
                </c:pt>
              </c:strCache>
            </c:strRef>
          </c:tx>
          <c:spPr>
            <a:solidFill>
              <a:srgbClr val="009999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9.3750000000000569E-3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691-42F9-9C1F-7BDC210C2811}"/>
                </c:ext>
              </c:extLst>
            </c:dLbl>
            <c:dLbl>
              <c:idx val="3"/>
              <c:layout>
                <c:manualLayout>
                  <c:x val="-1.4062500000000115E-2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691-42F9-9C1F-7BDC210C28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Planilha1!$A$2:$B$5</c:f>
              <c:multiLvlStrCache>
                <c:ptCount val="4"/>
                <c:lvl>
                  <c:pt idx="0">
                    <c:v>M²</c:v>
                  </c:pt>
                  <c:pt idx="1">
                    <c:v>M</c:v>
                  </c:pt>
                  <c:pt idx="2">
                    <c:v>M</c:v>
                  </c:pt>
                  <c:pt idx="3">
                    <c:v>M</c:v>
                  </c:pt>
                </c:lvl>
                <c:lvl>
                  <c:pt idx="0">
                    <c:v>ROÇADA  </c:v>
                  </c:pt>
                  <c:pt idx="1">
                    <c:v>LIMPEZA DE CANALETA (MEIA/PLENA SEÇÃO)</c:v>
                  </c:pt>
                  <c:pt idx="2">
                    <c:v>LIMPEZA DE VALETA, SARJETAS E MEIO FIOS</c:v>
                  </c:pt>
                  <c:pt idx="3">
                    <c:v>REC. DE DRENAGEM (CANALETA E MEIO-FIO)</c:v>
                  </c:pt>
                </c:lvl>
              </c:multiLvlStrCache>
            </c:multiLvlStrRef>
          </c:cat>
          <c:val>
            <c:numRef>
              <c:f>Planilha1!$C$2:$C$5</c:f>
              <c:numCache>
                <c:formatCode>0.00</c:formatCode>
                <c:ptCount val="4"/>
                <c:pt idx="0">
                  <c:v>910</c:v>
                </c:pt>
                <c:pt idx="1">
                  <c:v>43</c:v>
                </c:pt>
                <c:pt idx="2">
                  <c:v>7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6B-4DFE-8882-9685C5B233C9}"/>
            </c:ext>
          </c:extLst>
        </c:ser>
        <c:ser>
          <c:idx val="1"/>
          <c:order val="1"/>
          <c:tx>
            <c:strRef>
              <c:f>Planilha1!$D$1</c:f>
              <c:strCache>
                <c:ptCount val="1"/>
                <c:pt idx="0">
                  <c:v>PBA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1.40625E-2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691-42F9-9C1F-7BDC210C28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Planilha1!$A$2:$B$5</c:f>
              <c:multiLvlStrCache>
                <c:ptCount val="4"/>
                <c:lvl>
                  <c:pt idx="0">
                    <c:v>M²</c:v>
                  </c:pt>
                  <c:pt idx="1">
                    <c:v>M</c:v>
                  </c:pt>
                  <c:pt idx="2">
                    <c:v>M</c:v>
                  </c:pt>
                  <c:pt idx="3">
                    <c:v>M</c:v>
                  </c:pt>
                </c:lvl>
                <c:lvl>
                  <c:pt idx="0">
                    <c:v>ROÇADA  </c:v>
                  </c:pt>
                  <c:pt idx="1">
                    <c:v>LIMPEZA DE CANALETA (MEIA/PLENA SEÇÃO)</c:v>
                  </c:pt>
                  <c:pt idx="2">
                    <c:v>LIMPEZA DE VALETA, SARJETAS E MEIO FIOS</c:v>
                  </c:pt>
                  <c:pt idx="3">
                    <c:v>REC. DE DRENAGEM (CANALETA E MEIO-FIO)</c:v>
                  </c:pt>
                </c:lvl>
              </c:multiLvlStrCache>
            </c:multiLvlStrRef>
          </c:cat>
          <c:val>
            <c:numRef>
              <c:f>Planilha1!$D$2:$D$5</c:f>
              <c:numCache>
                <c:formatCode>0.00</c:formatCode>
                <c:ptCount val="4"/>
                <c:pt idx="0">
                  <c:v>463</c:v>
                </c:pt>
                <c:pt idx="1">
                  <c:v>27</c:v>
                </c:pt>
                <c:pt idx="2">
                  <c:v>5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6B-4DFE-8882-9685C5B233C9}"/>
            </c:ext>
          </c:extLst>
        </c:ser>
        <c:ser>
          <c:idx val="2"/>
          <c:order val="2"/>
          <c:tx>
            <c:strRef>
              <c:f>Planilha1!$E$1</c:f>
              <c:strCache>
                <c:ptCount val="1"/>
                <c:pt idx="0">
                  <c:v>RAMAL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2.34375E-2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691-42F9-9C1F-7BDC210C2811}"/>
                </c:ext>
              </c:extLst>
            </c:dLbl>
            <c:dLbl>
              <c:idx val="3"/>
              <c:layout>
                <c:manualLayout>
                  <c:x val="2.34375E-2"/>
                  <c:y val="7.031249567467337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691-42F9-9C1F-7BDC210C2811}"/>
                </c:ext>
              </c:extLst>
            </c:dLbl>
            <c:dLbl>
              <c:idx val="4"/>
              <c:layout>
                <c:manualLayout>
                  <c:x val="2.5000000000000001E-2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691-42F9-9C1F-7BDC210C28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Planilha1!$A$2:$B$5</c:f>
              <c:multiLvlStrCache>
                <c:ptCount val="4"/>
                <c:lvl>
                  <c:pt idx="0">
                    <c:v>M²</c:v>
                  </c:pt>
                  <c:pt idx="1">
                    <c:v>M</c:v>
                  </c:pt>
                  <c:pt idx="2">
                    <c:v>M</c:v>
                  </c:pt>
                  <c:pt idx="3">
                    <c:v>M</c:v>
                  </c:pt>
                </c:lvl>
                <c:lvl>
                  <c:pt idx="0">
                    <c:v>ROÇADA  </c:v>
                  </c:pt>
                  <c:pt idx="1">
                    <c:v>LIMPEZA DE CANALETA (MEIA/PLENA SEÇÃO)</c:v>
                  </c:pt>
                  <c:pt idx="2">
                    <c:v>LIMPEZA DE VALETA, SARJETAS E MEIO FIOS</c:v>
                  </c:pt>
                  <c:pt idx="3">
                    <c:v>REC. DE DRENAGEM (CANALETA E MEIO-FIO)</c:v>
                  </c:pt>
                </c:lvl>
              </c:multiLvlStrCache>
            </c:multiLvlStrRef>
          </c:cat>
          <c:val>
            <c:numRef>
              <c:f>Planilha1!$E$2:$E$5</c:f>
              <c:numCache>
                <c:formatCode>0.00</c:formatCode>
                <c:ptCount val="4"/>
                <c:pt idx="0">
                  <c:v>182</c:v>
                </c:pt>
                <c:pt idx="1">
                  <c:v>34</c:v>
                </c:pt>
                <c:pt idx="2">
                  <c:v>8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6B-4DFE-8882-9685C5B233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756645695"/>
        <c:axId val="1756647135"/>
      </c:barChart>
      <c:catAx>
        <c:axId val="17566456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56647135"/>
        <c:crosses val="autoZero"/>
        <c:auto val="1"/>
        <c:lblAlgn val="ctr"/>
        <c:lblOffset val="100"/>
        <c:noMultiLvlLbl val="0"/>
      </c:catAx>
      <c:valAx>
        <c:axId val="1756647135"/>
        <c:scaling>
          <c:orientation val="minMax"/>
          <c:max val="1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56645695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dirty="0"/>
              <a:t>PRODUTIVIDADE MÉDIA EQUIPES PREVENTIVAS MARÇO</a:t>
            </a:r>
          </a:p>
        </c:rich>
      </c:tx>
      <c:layout>
        <c:manualLayout>
          <c:xMode val="edge"/>
          <c:yMode val="edge"/>
          <c:x val="0.1435079922678260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Planilha1!$C$1</c:f>
              <c:strCache>
                <c:ptCount val="1"/>
                <c:pt idx="0">
                  <c:v>MAB</c:v>
                </c:pt>
              </c:strCache>
            </c:strRef>
          </c:tx>
          <c:spPr>
            <a:solidFill>
              <a:srgbClr val="009999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9.3750000000000569E-3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691-42F9-9C1F-7BDC210C2811}"/>
                </c:ext>
              </c:extLst>
            </c:dLbl>
            <c:dLbl>
              <c:idx val="3"/>
              <c:layout>
                <c:manualLayout>
                  <c:x val="-1.4062500000000115E-2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691-42F9-9C1F-7BDC210C28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Planilha1!$A$2:$B$5</c:f>
              <c:multiLvlStrCache>
                <c:ptCount val="4"/>
                <c:lvl>
                  <c:pt idx="0">
                    <c:v>M²</c:v>
                  </c:pt>
                  <c:pt idx="1">
                    <c:v>M</c:v>
                  </c:pt>
                  <c:pt idx="2">
                    <c:v>M</c:v>
                  </c:pt>
                  <c:pt idx="3">
                    <c:v>M</c:v>
                  </c:pt>
                </c:lvl>
                <c:lvl>
                  <c:pt idx="0">
                    <c:v>ROÇADA  </c:v>
                  </c:pt>
                  <c:pt idx="1">
                    <c:v>LIMPEZA DE CANALETA (MEIA/PLENA SEÇÃO)</c:v>
                  </c:pt>
                  <c:pt idx="2">
                    <c:v>LIMPEZA DE VALETA, SARJETAS E MEIO FIOS</c:v>
                  </c:pt>
                  <c:pt idx="3">
                    <c:v>REC. DE DRENAGEM (CANALETA E MEIO-FIO)</c:v>
                  </c:pt>
                </c:lvl>
              </c:multiLvlStrCache>
            </c:multiLvlStrRef>
          </c:cat>
          <c:val>
            <c:numRef>
              <c:f>Planilha1!$C$2:$C$5</c:f>
              <c:numCache>
                <c:formatCode>0.00</c:formatCode>
                <c:ptCount val="4"/>
                <c:pt idx="0">
                  <c:v>246.18</c:v>
                </c:pt>
                <c:pt idx="1">
                  <c:v>27.97</c:v>
                </c:pt>
                <c:pt idx="2">
                  <c:v>8.89</c:v>
                </c:pt>
                <c:pt idx="3">
                  <c:v>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6B-4DFE-8882-9685C5B233C9}"/>
            </c:ext>
          </c:extLst>
        </c:ser>
        <c:ser>
          <c:idx val="1"/>
          <c:order val="1"/>
          <c:tx>
            <c:strRef>
              <c:f>Planilha1!$D$1</c:f>
              <c:strCache>
                <c:ptCount val="1"/>
                <c:pt idx="0">
                  <c:v>PBA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1.40625E-2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691-42F9-9C1F-7BDC210C28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Planilha1!$A$2:$B$5</c:f>
              <c:multiLvlStrCache>
                <c:ptCount val="4"/>
                <c:lvl>
                  <c:pt idx="0">
                    <c:v>M²</c:v>
                  </c:pt>
                  <c:pt idx="1">
                    <c:v>M</c:v>
                  </c:pt>
                  <c:pt idx="2">
                    <c:v>M</c:v>
                  </c:pt>
                  <c:pt idx="3">
                    <c:v>M</c:v>
                  </c:pt>
                </c:lvl>
                <c:lvl>
                  <c:pt idx="0">
                    <c:v>ROÇADA  </c:v>
                  </c:pt>
                  <c:pt idx="1">
                    <c:v>LIMPEZA DE CANALETA (MEIA/PLENA SEÇÃO)</c:v>
                  </c:pt>
                  <c:pt idx="2">
                    <c:v>LIMPEZA DE VALETA, SARJETAS E MEIO FIOS</c:v>
                  </c:pt>
                  <c:pt idx="3">
                    <c:v>REC. DE DRENAGEM (CANALETA E MEIO-FIO)</c:v>
                  </c:pt>
                </c:lvl>
              </c:multiLvlStrCache>
            </c:multiLvlStrRef>
          </c:cat>
          <c:val>
            <c:numRef>
              <c:f>Planilha1!$D$2:$D$5</c:f>
              <c:numCache>
                <c:formatCode>0.00</c:formatCode>
                <c:ptCount val="4"/>
                <c:pt idx="0">
                  <c:v>135.56</c:v>
                </c:pt>
                <c:pt idx="1">
                  <c:v>18.670000000000002</c:v>
                </c:pt>
                <c:pt idx="2">
                  <c:v>0</c:v>
                </c:pt>
                <c:pt idx="3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6B-4DFE-8882-9685C5B233C9}"/>
            </c:ext>
          </c:extLst>
        </c:ser>
        <c:ser>
          <c:idx val="2"/>
          <c:order val="2"/>
          <c:tx>
            <c:strRef>
              <c:f>Planilha1!$E$1</c:f>
              <c:strCache>
                <c:ptCount val="1"/>
                <c:pt idx="0">
                  <c:v>RAMAL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2.34375E-2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691-42F9-9C1F-7BDC210C2811}"/>
                </c:ext>
              </c:extLst>
            </c:dLbl>
            <c:dLbl>
              <c:idx val="3"/>
              <c:layout>
                <c:manualLayout>
                  <c:x val="2.34375E-2"/>
                  <c:y val="7.031249567467337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691-42F9-9C1F-7BDC210C2811}"/>
                </c:ext>
              </c:extLst>
            </c:dLbl>
            <c:dLbl>
              <c:idx val="4"/>
              <c:layout>
                <c:manualLayout>
                  <c:x val="2.5000000000000001E-2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691-42F9-9C1F-7BDC210C28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Planilha1!$A$2:$B$5</c:f>
              <c:multiLvlStrCache>
                <c:ptCount val="4"/>
                <c:lvl>
                  <c:pt idx="0">
                    <c:v>M²</c:v>
                  </c:pt>
                  <c:pt idx="1">
                    <c:v>M</c:v>
                  </c:pt>
                  <c:pt idx="2">
                    <c:v>M</c:v>
                  </c:pt>
                  <c:pt idx="3">
                    <c:v>M</c:v>
                  </c:pt>
                </c:lvl>
                <c:lvl>
                  <c:pt idx="0">
                    <c:v>ROÇADA  </c:v>
                  </c:pt>
                  <c:pt idx="1">
                    <c:v>LIMPEZA DE CANALETA (MEIA/PLENA SEÇÃO)</c:v>
                  </c:pt>
                  <c:pt idx="2">
                    <c:v>LIMPEZA DE VALETA, SARJETAS E MEIO FIOS</c:v>
                  </c:pt>
                  <c:pt idx="3">
                    <c:v>REC. DE DRENAGEM (CANALETA E MEIO-FIO)</c:v>
                  </c:pt>
                </c:lvl>
              </c:multiLvlStrCache>
            </c:multiLvlStrRef>
          </c:cat>
          <c:val>
            <c:numRef>
              <c:f>Planilha1!$E$2:$E$5</c:f>
              <c:numCache>
                <c:formatCode>0.00</c:formatCode>
                <c:ptCount val="4"/>
                <c:pt idx="0">
                  <c:v>107.86</c:v>
                </c:pt>
                <c:pt idx="1">
                  <c:v>5.22</c:v>
                </c:pt>
                <c:pt idx="2">
                  <c:v>0.36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6B-4DFE-8882-9685C5B233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756645695"/>
        <c:axId val="1756647135"/>
      </c:barChart>
      <c:catAx>
        <c:axId val="17566456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56647135"/>
        <c:crosses val="autoZero"/>
        <c:auto val="1"/>
        <c:lblAlgn val="ctr"/>
        <c:lblOffset val="100"/>
        <c:noMultiLvlLbl val="0"/>
      </c:catAx>
      <c:valAx>
        <c:axId val="1756647135"/>
        <c:scaling>
          <c:orientation val="minMax"/>
          <c:max val="25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56645695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dirty="0"/>
              <a:t>PRODUTIVIDADE MÉDIA EQUIPES PREVENTIVAS ABRIL</a:t>
            </a:r>
          </a:p>
        </c:rich>
      </c:tx>
      <c:layout>
        <c:manualLayout>
          <c:xMode val="edge"/>
          <c:yMode val="edge"/>
          <c:x val="0.1435079922678260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Planilha1!$C$1</c:f>
              <c:strCache>
                <c:ptCount val="1"/>
                <c:pt idx="0">
                  <c:v>MAB</c:v>
                </c:pt>
              </c:strCache>
            </c:strRef>
          </c:tx>
          <c:spPr>
            <a:solidFill>
              <a:srgbClr val="009999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9.3750000000000569E-3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691-42F9-9C1F-7BDC210C2811}"/>
                </c:ext>
              </c:extLst>
            </c:dLbl>
            <c:dLbl>
              <c:idx val="3"/>
              <c:layout>
                <c:manualLayout>
                  <c:x val="-1.4062500000000115E-2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691-42F9-9C1F-7BDC210C28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Planilha1!$A$2:$B$5</c:f>
              <c:multiLvlStrCache>
                <c:ptCount val="4"/>
                <c:lvl>
                  <c:pt idx="0">
                    <c:v>M²</c:v>
                  </c:pt>
                  <c:pt idx="1">
                    <c:v>M</c:v>
                  </c:pt>
                  <c:pt idx="2">
                    <c:v>M</c:v>
                  </c:pt>
                  <c:pt idx="3">
                    <c:v>M</c:v>
                  </c:pt>
                </c:lvl>
                <c:lvl>
                  <c:pt idx="0">
                    <c:v>ROÇADA  </c:v>
                  </c:pt>
                  <c:pt idx="1">
                    <c:v>LIMPEZA DE CANALETA (MEIA/PLENA SEÇÃO)</c:v>
                  </c:pt>
                  <c:pt idx="2">
                    <c:v>LIMPEZA DE VALETA, SARJETAS E MEIO FIOS</c:v>
                  </c:pt>
                  <c:pt idx="3">
                    <c:v>REC. DE DRENAGEM (CANALETA E MEIO-FIO)</c:v>
                  </c:pt>
                </c:lvl>
              </c:multiLvlStrCache>
            </c:multiLvlStrRef>
          </c:cat>
          <c:val>
            <c:numRef>
              <c:f>Planilha1!$C$2:$C$5</c:f>
              <c:numCache>
                <c:formatCode>0.00</c:formatCode>
                <c:ptCount val="4"/>
                <c:pt idx="0">
                  <c:v>300.89</c:v>
                </c:pt>
                <c:pt idx="1">
                  <c:v>34.18</c:v>
                </c:pt>
                <c:pt idx="2">
                  <c:v>10.87</c:v>
                </c:pt>
                <c:pt idx="3">
                  <c:v>2.08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6B-4DFE-8882-9685C5B233C9}"/>
            </c:ext>
          </c:extLst>
        </c:ser>
        <c:ser>
          <c:idx val="1"/>
          <c:order val="1"/>
          <c:tx>
            <c:strRef>
              <c:f>Planilha1!$D$1</c:f>
              <c:strCache>
                <c:ptCount val="1"/>
                <c:pt idx="0">
                  <c:v>PBA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1.40625E-2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691-42F9-9C1F-7BDC210C28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Planilha1!$A$2:$B$5</c:f>
              <c:multiLvlStrCache>
                <c:ptCount val="4"/>
                <c:lvl>
                  <c:pt idx="0">
                    <c:v>M²</c:v>
                  </c:pt>
                  <c:pt idx="1">
                    <c:v>M</c:v>
                  </c:pt>
                  <c:pt idx="2">
                    <c:v>M</c:v>
                  </c:pt>
                  <c:pt idx="3">
                    <c:v>M</c:v>
                  </c:pt>
                </c:lvl>
                <c:lvl>
                  <c:pt idx="0">
                    <c:v>ROÇADA  </c:v>
                  </c:pt>
                  <c:pt idx="1">
                    <c:v>LIMPEZA DE CANALETA (MEIA/PLENA SEÇÃO)</c:v>
                  </c:pt>
                  <c:pt idx="2">
                    <c:v>LIMPEZA DE VALETA, SARJETAS E MEIO FIOS</c:v>
                  </c:pt>
                  <c:pt idx="3">
                    <c:v>REC. DE DRENAGEM (CANALETA E MEIO-FIO)</c:v>
                  </c:pt>
                </c:lvl>
              </c:multiLvlStrCache>
            </c:multiLvlStrRef>
          </c:cat>
          <c:val>
            <c:numRef>
              <c:f>Planilha1!$D$2:$D$5</c:f>
              <c:numCache>
                <c:formatCode>0.00</c:formatCode>
                <c:ptCount val="4"/>
                <c:pt idx="0">
                  <c:v>165.68</c:v>
                </c:pt>
                <c:pt idx="1">
                  <c:v>22.82</c:v>
                </c:pt>
                <c:pt idx="2">
                  <c:v>0</c:v>
                </c:pt>
                <c:pt idx="3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6B-4DFE-8882-9685C5B233C9}"/>
            </c:ext>
          </c:extLst>
        </c:ser>
        <c:ser>
          <c:idx val="2"/>
          <c:order val="2"/>
          <c:tx>
            <c:strRef>
              <c:f>Planilha1!$E$1</c:f>
              <c:strCache>
                <c:ptCount val="1"/>
                <c:pt idx="0">
                  <c:v>RAMAL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2.34375E-2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691-42F9-9C1F-7BDC210C2811}"/>
                </c:ext>
              </c:extLst>
            </c:dLbl>
            <c:dLbl>
              <c:idx val="3"/>
              <c:layout>
                <c:manualLayout>
                  <c:x val="2.34375E-2"/>
                  <c:y val="7.031249567467337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691-42F9-9C1F-7BDC210C2811}"/>
                </c:ext>
              </c:extLst>
            </c:dLbl>
            <c:dLbl>
              <c:idx val="4"/>
              <c:layout>
                <c:manualLayout>
                  <c:x val="2.5000000000000001E-2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691-42F9-9C1F-7BDC210C28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Planilha1!$A$2:$B$5</c:f>
              <c:multiLvlStrCache>
                <c:ptCount val="4"/>
                <c:lvl>
                  <c:pt idx="0">
                    <c:v>M²</c:v>
                  </c:pt>
                  <c:pt idx="1">
                    <c:v>M</c:v>
                  </c:pt>
                  <c:pt idx="2">
                    <c:v>M</c:v>
                  </c:pt>
                  <c:pt idx="3">
                    <c:v>M</c:v>
                  </c:pt>
                </c:lvl>
                <c:lvl>
                  <c:pt idx="0">
                    <c:v>ROÇADA  </c:v>
                  </c:pt>
                  <c:pt idx="1">
                    <c:v>LIMPEZA DE CANALETA (MEIA/PLENA SEÇÃO)</c:v>
                  </c:pt>
                  <c:pt idx="2">
                    <c:v>LIMPEZA DE VALETA, SARJETAS E MEIO FIOS</c:v>
                  </c:pt>
                  <c:pt idx="3">
                    <c:v>REC. DE DRENAGEM (CANALETA E MEIO-FIO)</c:v>
                  </c:pt>
                </c:lvl>
              </c:multiLvlStrCache>
            </c:multiLvlStrRef>
          </c:cat>
          <c:val>
            <c:numRef>
              <c:f>Planilha1!$E$2:$E$5</c:f>
              <c:numCache>
                <c:formatCode>0.00</c:formatCode>
                <c:ptCount val="4"/>
                <c:pt idx="0">
                  <c:v>131.83000000000001</c:v>
                </c:pt>
                <c:pt idx="1">
                  <c:v>6.38</c:v>
                </c:pt>
                <c:pt idx="2">
                  <c:v>0.44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6B-4DFE-8882-9685C5B233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756645695"/>
        <c:axId val="1756647135"/>
      </c:barChart>
      <c:catAx>
        <c:axId val="17566456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56647135"/>
        <c:crosses val="autoZero"/>
        <c:auto val="1"/>
        <c:lblAlgn val="ctr"/>
        <c:lblOffset val="100"/>
        <c:noMultiLvlLbl val="0"/>
      </c:catAx>
      <c:valAx>
        <c:axId val="1756647135"/>
        <c:scaling>
          <c:orientation val="minMax"/>
          <c:max val="3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56645695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dirty="0"/>
              <a:t>PRODUTIVIDADE MÉDIA EQUIPES PREVENTIVAS MAIO</a:t>
            </a:r>
          </a:p>
        </c:rich>
      </c:tx>
      <c:layout>
        <c:manualLayout>
          <c:xMode val="edge"/>
          <c:yMode val="edge"/>
          <c:x val="0.1435079922678260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Planilha1!$C$1</c:f>
              <c:strCache>
                <c:ptCount val="1"/>
                <c:pt idx="0">
                  <c:v>MAB</c:v>
                </c:pt>
              </c:strCache>
            </c:strRef>
          </c:tx>
          <c:spPr>
            <a:solidFill>
              <a:srgbClr val="00999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9574473550699044E-2"/>
                  <c:y val="-4.3661921118068692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4FA-4D66-8505-258D2557B631}"/>
                </c:ext>
              </c:extLst>
            </c:dLbl>
            <c:dLbl>
              <c:idx val="1"/>
              <c:layout>
                <c:manualLayout>
                  <c:x val="-1.794326742147412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4FA-4D66-8505-258D2557B631}"/>
                </c:ext>
              </c:extLst>
            </c:dLbl>
            <c:dLbl>
              <c:idx val="2"/>
              <c:layout>
                <c:manualLayout>
                  <c:x val="-1.4268558180755621E-2"/>
                  <c:y val="4.687412975972788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691-42F9-9C1F-7BDC210C2811}"/>
                </c:ext>
              </c:extLst>
            </c:dLbl>
            <c:dLbl>
              <c:idx val="3"/>
              <c:layout>
                <c:manualLayout>
                  <c:x val="-1.4062500000000115E-2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691-42F9-9C1F-7BDC210C28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Planilha1!$A$2:$B$6</c:f>
              <c:multiLvlStrCache>
                <c:ptCount val="5"/>
                <c:lvl>
                  <c:pt idx="0">
                    <c:v>M²</c:v>
                  </c:pt>
                  <c:pt idx="1">
                    <c:v>M</c:v>
                  </c:pt>
                  <c:pt idx="2">
                    <c:v>M</c:v>
                  </c:pt>
                  <c:pt idx="3">
                    <c:v>M</c:v>
                  </c:pt>
                  <c:pt idx="4">
                    <c:v>M²</c:v>
                  </c:pt>
                </c:lvl>
                <c:lvl>
                  <c:pt idx="0">
                    <c:v>ROÇADA  </c:v>
                  </c:pt>
                  <c:pt idx="1">
                    <c:v>LIMPEZA DE CANALETA (MEIA/PLENA SEÇÃO)</c:v>
                  </c:pt>
                  <c:pt idx="2">
                    <c:v>LIMPEZA DE VALETA, SARJETAS E MEIO FIOS</c:v>
                  </c:pt>
                  <c:pt idx="3">
                    <c:v>REC. DE DRENAGEM (CANALETA E MEIO-FIO)</c:v>
                  </c:pt>
                  <c:pt idx="4">
                    <c:v>CAPINA</c:v>
                  </c:pt>
                </c:lvl>
              </c:multiLvlStrCache>
            </c:multiLvlStrRef>
          </c:cat>
          <c:val>
            <c:numRef>
              <c:f>Planilha1!$C$2:$C$6</c:f>
              <c:numCache>
                <c:formatCode>0.00</c:formatCode>
                <c:ptCount val="5"/>
                <c:pt idx="0">
                  <c:v>290.85842857142853</c:v>
                </c:pt>
                <c:pt idx="1">
                  <c:v>28.06</c:v>
                </c:pt>
                <c:pt idx="2">
                  <c:v>15.292857142857143</c:v>
                </c:pt>
                <c:pt idx="3">
                  <c:v>2.7485714285714287</c:v>
                </c:pt>
                <c:pt idx="4">
                  <c:v>28.8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6B-4DFE-8882-9685C5B233C9}"/>
            </c:ext>
          </c:extLst>
        </c:ser>
        <c:ser>
          <c:idx val="1"/>
          <c:order val="1"/>
          <c:tx>
            <c:strRef>
              <c:f>Planilha1!$D$1</c:f>
              <c:strCache>
                <c:ptCount val="1"/>
                <c:pt idx="0">
                  <c:v>PBA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9.7872367753494612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4FA-4D66-8505-258D2557B631}"/>
                </c:ext>
              </c:extLst>
            </c:dLbl>
            <c:dLbl>
              <c:idx val="4"/>
              <c:layout>
                <c:manualLayout>
                  <c:x val="1.40625E-2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691-42F9-9C1F-7BDC210C28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Planilha1!$A$2:$B$6</c:f>
              <c:multiLvlStrCache>
                <c:ptCount val="5"/>
                <c:lvl>
                  <c:pt idx="0">
                    <c:v>M²</c:v>
                  </c:pt>
                  <c:pt idx="1">
                    <c:v>M</c:v>
                  </c:pt>
                  <c:pt idx="2">
                    <c:v>M</c:v>
                  </c:pt>
                  <c:pt idx="3">
                    <c:v>M</c:v>
                  </c:pt>
                  <c:pt idx="4">
                    <c:v>M²</c:v>
                  </c:pt>
                </c:lvl>
                <c:lvl>
                  <c:pt idx="0">
                    <c:v>ROÇADA  </c:v>
                  </c:pt>
                  <c:pt idx="1">
                    <c:v>LIMPEZA DE CANALETA (MEIA/PLENA SEÇÃO)</c:v>
                  </c:pt>
                  <c:pt idx="2">
                    <c:v>LIMPEZA DE VALETA, SARJETAS E MEIO FIOS</c:v>
                  </c:pt>
                  <c:pt idx="3">
                    <c:v>REC. DE DRENAGEM (CANALETA E MEIO-FIO)</c:v>
                  </c:pt>
                  <c:pt idx="4">
                    <c:v>CAPINA</c:v>
                  </c:pt>
                </c:lvl>
              </c:multiLvlStrCache>
            </c:multiLvlStrRef>
          </c:cat>
          <c:val>
            <c:numRef>
              <c:f>Planilha1!$D$2:$D$6</c:f>
              <c:numCache>
                <c:formatCode>0.00</c:formatCode>
                <c:ptCount val="5"/>
                <c:pt idx="0">
                  <c:v>489.22585714285714</c:v>
                </c:pt>
                <c:pt idx="1">
                  <c:v>21.98</c:v>
                </c:pt>
                <c:pt idx="2">
                  <c:v>12.807142857142857</c:v>
                </c:pt>
                <c:pt idx="3">
                  <c:v>0.18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6B-4DFE-8882-9685C5B233C9}"/>
            </c:ext>
          </c:extLst>
        </c:ser>
        <c:ser>
          <c:idx val="2"/>
          <c:order val="2"/>
          <c:tx>
            <c:strRef>
              <c:f>Planilha1!$E$1</c:f>
              <c:strCache>
                <c:ptCount val="1"/>
                <c:pt idx="0">
                  <c:v>RAMAL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1205679679923931E-2"/>
                  <c:y val="-2.381586845689530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4FA-4D66-8505-258D2557B631}"/>
                </c:ext>
              </c:extLst>
            </c:dLbl>
            <c:dLbl>
              <c:idx val="1"/>
              <c:layout>
                <c:manualLayout>
                  <c:x val="1.4680855163024222E-2"/>
                  <c:y val="4.763173691378887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4FA-4D66-8505-258D2557B631}"/>
                </c:ext>
              </c:extLst>
            </c:dLbl>
            <c:dLbl>
              <c:idx val="2"/>
              <c:layout>
                <c:manualLayout>
                  <c:x val="2.34375E-2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691-42F9-9C1F-7BDC210C2811}"/>
                </c:ext>
              </c:extLst>
            </c:dLbl>
            <c:dLbl>
              <c:idx val="3"/>
              <c:layout>
                <c:manualLayout>
                  <c:x val="2.34375E-2"/>
                  <c:y val="7.031249567467337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691-42F9-9C1F-7BDC210C2811}"/>
                </c:ext>
              </c:extLst>
            </c:dLbl>
            <c:dLbl>
              <c:idx val="4"/>
              <c:layout>
                <c:manualLayout>
                  <c:x val="2.5000000000000001E-2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691-42F9-9C1F-7BDC210C28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Planilha1!$A$2:$B$6</c:f>
              <c:multiLvlStrCache>
                <c:ptCount val="5"/>
                <c:lvl>
                  <c:pt idx="0">
                    <c:v>M²</c:v>
                  </c:pt>
                  <c:pt idx="1">
                    <c:v>M</c:v>
                  </c:pt>
                  <c:pt idx="2">
                    <c:v>M</c:v>
                  </c:pt>
                  <c:pt idx="3">
                    <c:v>M</c:v>
                  </c:pt>
                  <c:pt idx="4">
                    <c:v>M²</c:v>
                  </c:pt>
                </c:lvl>
                <c:lvl>
                  <c:pt idx="0">
                    <c:v>ROÇADA  </c:v>
                  </c:pt>
                  <c:pt idx="1">
                    <c:v>LIMPEZA DE CANALETA (MEIA/PLENA SEÇÃO)</c:v>
                  </c:pt>
                  <c:pt idx="2">
                    <c:v>LIMPEZA DE VALETA, SARJETAS E MEIO FIOS</c:v>
                  </c:pt>
                  <c:pt idx="3">
                    <c:v>REC. DE DRENAGEM (CANALETA E MEIO-FIO)</c:v>
                  </c:pt>
                  <c:pt idx="4">
                    <c:v>CAPINA</c:v>
                  </c:pt>
                </c:lvl>
              </c:multiLvlStrCache>
            </c:multiLvlStrRef>
          </c:cat>
          <c:val>
            <c:numRef>
              <c:f>Planilha1!$E$2:$E$6</c:f>
              <c:numCache>
                <c:formatCode>0.00</c:formatCode>
                <c:ptCount val="5"/>
                <c:pt idx="0">
                  <c:v>319.78142857142859</c:v>
                </c:pt>
                <c:pt idx="1">
                  <c:v>12.185714285714285</c:v>
                </c:pt>
                <c:pt idx="2">
                  <c:v>0</c:v>
                </c:pt>
                <c:pt idx="3">
                  <c:v>0.04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6B-4DFE-8882-9685C5B233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756645695"/>
        <c:axId val="1756647135"/>
      </c:barChart>
      <c:catAx>
        <c:axId val="17566456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56647135"/>
        <c:crosses val="autoZero"/>
        <c:auto val="1"/>
        <c:lblAlgn val="ctr"/>
        <c:lblOffset val="100"/>
        <c:noMultiLvlLbl val="0"/>
      </c:catAx>
      <c:valAx>
        <c:axId val="1756647135"/>
        <c:scaling>
          <c:orientation val="minMax"/>
          <c:max val="5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56645695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/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dirty="0"/>
              <a:t>PRODUTIVIDADE MÉDIA EQUIPES PREVENTIVAS JUNHO</a:t>
            </a:r>
          </a:p>
        </c:rich>
      </c:tx>
      <c:layout>
        <c:manualLayout>
          <c:xMode val="edge"/>
          <c:yMode val="edge"/>
          <c:x val="0.1435079922678260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Planilha1!$C$1</c:f>
              <c:strCache>
                <c:ptCount val="1"/>
                <c:pt idx="0">
                  <c:v>MAB</c:v>
                </c:pt>
              </c:strCache>
            </c:strRef>
          </c:tx>
          <c:spPr>
            <a:solidFill>
              <a:srgbClr val="00999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9574473550699044E-2"/>
                  <c:y val="-4.3661921118068692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4FA-4D66-8505-258D2557B631}"/>
                </c:ext>
              </c:extLst>
            </c:dLbl>
            <c:dLbl>
              <c:idx val="1"/>
              <c:layout>
                <c:manualLayout>
                  <c:x val="-1.794326742147412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4FA-4D66-8505-258D2557B631}"/>
                </c:ext>
              </c:extLst>
            </c:dLbl>
            <c:dLbl>
              <c:idx val="2"/>
              <c:layout>
                <c:manualLayout>
                  <c:x val="-1.4268558180755621E-2"/>
                  <c:y val="4.687412975972788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691-42F9-9C1F-7BDC210C2811}"/>
                </c:ext>
              </c:extLst>
            </c:dLbl>
            <c:dLbl>
              <c:idx val="3"/>
              <c:layout>
                <c:manualLayout>
                  <c:x val="-1.4062500000000115E-2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691-42F9-9C1F-7BDC210C28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Planilha1!$A$2:$B$5</c:f>
              <c:multiLvlStrCache>
                <c:ptCount val="4"/>
                <c:lvl>
                  <c:pt idx="0">
                    <c:v>M²</c:v>
                  </c:pt>
                  <c:pt idx="1">
                    <c:v>M</c:v>
                  </c:pt>
                  <c:pt idx="2">
                    <c:v>M</c:v>
                  </c:pt>
                  <c:pt idx="3">
                    <c:v>M</c:v>
                  </c:pt>
                </c:lvl>
                <c:lvl>
                  <c:pt idx="0">
                    <c:v>ROÇADA  </c:v>
                  </c:pt>
                  <c:pt idx="1">
                    <c:v>LIMPEZA DE CANALETA (MEIA/PLENA SEÇÃO)</c:v>
                  </c:pt>
                  <c:pt idx="2">
                    <c:v>LIMPEZA DE VALETA, SARJETAS E MEIO FIOS</c:v>
                  </c:pt>
                  <c:pt idx="3">
                    <c:v>REC. DE DRENAGEM (CANALETA E MEIO-FIO)</c:v>
                  </c:pt>
                </c:lvl>
              </c:multiLvlStrCache>
            </c:multiLvlStrRef>
          </c:cat>
          <c:val>
            <c:numRef>
              <c:f>Planilha1!$C$2:$C$5</c:f>
              <c:numCache>
                <c:formatCode>0.00</c:formatCode>
                <c:ptCount val="4"/>
                <c:pt idx="0">
                  <c:v>384.1</c:v>
                </c:pt>
                <c:pt idx="1">
                  <c:v>28.89</c:v>
                </c:pt>
                <c:pt idx="2">
                  <c:v>38.19</c:v>
                </c:pt>
                <c:pt idx="3">
                  <c:v>11.21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6B-4DFE-8882-9685C5B233C9}"/>
            </c:ext>
          </c:extLst>
        </c:ser>
        <c:ser>
          <c:idx val="1"/>
          <c:order val="1"/>
          <c:tx>
            <c:strRef>
              <c:f>Planilha1!$D$1</c:f>
              <c:strCache>
                <c:ptCount val="1"/>
                <c:pt idx="0">
                  <c:v>PBA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9.7872367753494612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4FA-4D66-8505-258D2557B63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Planilha1!$A$2:$B$5</c:f>
              <c:multiLvlStrCache>
                <c:ptCount val="4"/>
                <c:lvl>
                  <c:pt idx="0">
                    <c:v>M²</c:v>
                  </c:pt>
                  <c:pt idx="1">
                    <c:v>M</c:v>
                  </c:pt>
                  <c:pt idx="2">
                    <c:v>M</c:v>
                  </c:pt>
                  <c:pt idx="3">
                    <c:v>M</c:v>
                  </c:pt>
                </c:lvl>
                <c:lvl>
                  <c:pt idx="0">
                    <c:v>ROÇADA  </c:v>
                  </c:pt>
                  <c:pt idx="1">
                    <c:v>LIMPEZA DE CANALETA (MEIA/PLENA SEÇÃO)</c:v>
                  </c:pt>
                  <c:pt idx="2">
                    <c:v>LIMPEZA DE VALETA, SARJETAS E MEIO FIOS</c:v>
                  </c:pt>
                  <c:pt idx="3">
                    <c:v>REC. DE DRENAGEM (CANALETA E MEIO-FIO)</c:v>
                  </c:pt>
                </c:lvl>
              </c:multiLvlStrCache>
            </c:multiLvlStrRef>
          </c:cat>
          <c:val>
            <c:numRef>
              <c:f>Planilha1!$D$2:$D$5</c:f>
              <c:numCache>
                <c:formatCode>0.00</c:formatCode>
                <c:ptCount val="4"/>
                <c:pt idx="0">
                  <c:v>946.07</c:v>
                </c:pt>
                <c:pt idx="1">
                  <c:v>7.5</c:v>
                </c:pt>
                <c:pt idx="2">
                  <c:v>34.08</c:v>
                </c:pt>
                <c:pt idx="3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6B-4DFE-8882-9685C5B233C9}"/>
            </c:ext>
          </c:extLst>
        </c:ser>
        <c:ser>
          <c:idx val="2"/>
          <c:order val="2"/>
          <c:tx>
            <c:strRef>
              <c:f>Planilha1!$E$1</c:f>
              <c:strCache>
                <c:ptCount val="1"/>
                <c:pt idx="0">
                  <c:v>RAMAL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1205679679923931E-2"/>
                  <c:y val="-2.381586845689530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4FA-4D66-8505-258D2557B631}"/>
                </c:ext>
              </c:extLst>
            </c:dLbl>
            <c:dLbl>
              <c:idx val="1"/>
              <c:layout>
                <c:manualLayout>
                  <c:x val="1.4680855163024222E-2"/>
                  <c:y val="4.763173691378887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4FA-4D66-8505-258D2557B631}"/>
                </c:ext>
              </c:extLst>
            </c:dLbl>
            <c:dLbl>
              <c:idx val="2"/>
              <c:layout>
                <c:manualLayout>
                  <c:x val="2.34375E-2"/>
                  <c:y val="4.6874997116448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691-42F9-9C1F-7BDC210C2811}"/>
                </c:ext>
              </c:extLst>
            </c:dLbl>
            <c:dLbl>
              <c:idx val="3"/>
              <c:layout>
                <c:manualLayout>
                  <c:x val="2.34375E-2"/>
                  <c:y val="7.031249567467337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691-42F9-9C1F-7BDC210C28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Planilha1!$A$2:$B$5</c:f>
              <c:multiLvlStrCache>
                <c:ptCount val="4"/>
                <c:lvl>
                  <c:pt idx="0">
                    <c:v>M²</c:v>
                  </c:pt>
                  <c:pt idx="1">
                    <c:v>M</c:v>
                  </c:pt>
                  <c:pt idx="2">
                    <c:v>M</c:v>
                  </c:pt>
                  <c:pt idx="3">
                    <c:v>M</c:v>
                  </c:pt>
                </c:lvl>
                <c:lvl>
                  <c:pt idx="0">
                    <c:v>ROÇADA  </c:v>
                  </c:pt>
                  <c:pt idx="1">
                    <c:v>LIMPEZA DE CANALETA (MEIA/PLENA SEÇÃO)</c:v>
                  </c:pt>
                  <c:pt idx="2">
                    <c:v>LIMPEZA DE VALETA, SARJETAS E MEIO FIOS</c:v>
                  </c:pt>
                  <c:pt idx="3">
                    <c:v>REC. DE DRENAGEM (CANALETA E MEIO-FIO)</c:v>
                  </c:pt>
                </c:lvl>
              </c:multiLvlStrCache>
            </c:multiLvlStrRef>
          </c:cat>
          <c:val>
            <c:numRef>
              <c:f>Planilha1!$E$2:$E$5</c:f>
              <c:numCache>
                <c:formatCode>0.00</c:formatCode>
                <c:ptCount val="4"/>
                <c:pt idx="0">
                  <c:v>717.53</c:v>
                </c:pt>
                <c:pt idx="1">
                  <c:v>71.59</c:v>
                </c:pt>
                <c:pt idx="2">
                  <c:v>7.88</c:v>
                </c:pt>
                <c:pt idx="3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6B-4DFE-8882-9685C5B233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756645695"/>
        <c:axId val="1756647135"/>
      </c:barChart>
      <c:catAx>
        <c:axId val="17566456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56647135"/>
        <c:crosses val="autoZero"/>
        <c:auto val="1"/>
        <c:lblAlgn val="ctr"/>
        <c:lblOffset val="100"/>
        <c:noMultiLvlLbl val="0"/>
      </c:catAx>
      <c:valAx>
        <c:axId val="1756647135"/>
        <c:scaling>
          <c:orientation val="minMax"/>
          <c:max val="1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56645695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2177F2-3652-45CC-8F02-A9AD0D849214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19068-549A-4832-87A1-EC925D1AD7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954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90D7B-E423-D487-107C-0E04751DB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B7184FD-4337-BDD6-A98F-D0C91A6A5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DFB4E9A-63CA-DC07-A72A-D0F7E3F3A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3E66FC-163B-03A9-87B9-E51D03E515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0F9EB-83EA-49AF-B58D-4BFF8DD6330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8568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D5B1E-F514-FCBB-1285-E4A1AF61B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E7DA121-B4FE-863D-4077-28395EA57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A66D2E3-C248-6B2B-090C-6CCEADACD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6373E3-F6F1-29C6-9F53-44AF9789E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0F9EB-83EA-49AF-B58D-4BFF8DD6330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2567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9750D-7A26-DCDF-D7AE-1F94AEEC2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1135752-790B-8E6C-B5A9-FC4301A89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FC4BAA3-61F3-4424-417A-E08D962C3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6185FA-DA81-C706-5FF3-97EC8C2CD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0F9EB-83EA-49AF-B58D-4BFF8DD6330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2665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90D7B-E423-D487-107C-0E04751DB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B7184FD-4337-BDD6-A98F-D0C91A6A5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DFB4E9A-63CA-DC07-A72A-D0F7E3F3A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3E66FC-163B-03A9-87B9-E51D03E515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0F9EB-83EA-49AF-B58D-4BFF8DD6330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8568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90D7B-E423-D487-107C-0E04751DB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B7184FD-4337-BDD6-A98F-D0C91A6A5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DFB4E9A-63CA-DC07-A72A-D0F7E3F3A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3E66FC-163B-03A9-87B9-E51D03E515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0F9EB-83EA-49AF-B58D-4BFF8DD6330F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8568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90D7B-E423-D487-107C-0E04751DB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B7184FD-4337-BDD6-A98F-D0C91A6A5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DFB4E9A-63CA-DC07-A72A-D0F7E3F3A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3E66FC-163B-03A9-87B9-E51D03E515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0F9EB-83EA-49AF-B58D-4BFF8DD6330F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8568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4CB332-A6E3-F571-E37B-8EE46CA9F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056633-4D36-53D2-92F3-708D2CBD7A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F18663-48FC-2D88-48AF-17359C51F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9FBA-2D4F-42AE-84B1-B793A4845D44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21DBF7-E7AB-1300-8680-960AC7B11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6DB0F8-12CF-6C88-70A5-A8A2DA317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98EE3-F5AD-4150-B429-CF7FA7F19F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5995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BE245-6291-2A8F-7729-5500E1DE4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F3BD66-7689-57B7-9EB7-427A3A176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18771B-A83E-65F4-1E7F-AB351E331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9FBA-2D4F-42AE-84B1-B793A4845D44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465BD4-E52D-F6AF-FD8D-1F7C44CC1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78ABA1-EF68-7E31-ABFF-58EF41EB1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98EE3-F5AD-4150-B429-CF7FA7F19F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9631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E2F62A-8995-2E32-0EAD-E0E0FB421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FB5E0C-9D0B-9540-0A9E-63C5DC8DB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0AEAF4-9663-7995-67BB-8445F2D0F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9FBA-2D4F-42AE-84B1-B793A4845D44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ADA779-8641-1CC0-90E3-C003B669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FCDE53-E732-7E00-FEB9-64DCC45E1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98EE3-F5AD-4150-B429-CF7FA7F19F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8989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7B9BA3-D611-E7F0-8318-6B61F8BC6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892278-8427-CDAE-3A78-A1AB443FE0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131481E-6851-3917-D5D2-EF7202AAE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577962-8073-73D9-3F18-2374B46B8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9FBA-2D4F-42AE-84B1-B793A4845D44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093792A-5CCB-AB86-C942-D69CD4FAB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583CB4F-5F23-F5D2-1641-81B32475E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98EE3-F5AD-4150-B429-CF7FA7F19F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189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6635D-187A-3FD1-247E-CDE898772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1858FE-3D29-3177-5D22-92603AA49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FE842A-A719-3F92-47B7-5F355128C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761994A-BBD3-C454-7438-3B1A5AF2AE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34C19A6-2C3D-0206-71B3-EAE6F611C1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E5018A8-3DD5-B5FD-605D-5327352AB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9FBA-2D4F-42AE-84B1-B793A4845D44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F769A96-71CE-AAE0-8F78-B6FF31EFC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067DA4A-846D-2C37-5719-CB2C02262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98EE3-F5AD-4150-B429-CF7FA7F19F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3808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62E24A-04AF-4F4E-37BE-9BDFF80A7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0CF4BAF-59A3-E11D-32E5-4371AB19A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9FBA-2D4F-42AE-84B1-B793A4845D44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ACB7FD1-DE84-EC75-3575-47EAF84A8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79F2AE3-FAD4-C564-B24F-CE15F3825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98EE3-F5AD-4150-B429-CF7FA7F19F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1261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A0CD9D9-9FDB-CF1A-F197-D2D2F1E6A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9FBA-2D4F-42AE-84B1-B793A4845D44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E68866F-988D-A62E-3061-196BE9F5B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C77E53-4B45-46C8-00FB-696DB1DE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98EE3-F5AD-4150-B429-CF7FA7F19F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4693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F3F0E-9A7E-B307-4868-7A8E85460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D99B34-79EF-FDC4-7A17-B35FFC025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B315A21-4DC7-9361-BA30-47C332301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7DD86B-3E3C-3A44-F8E7-8BC9B1D5F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9FBA-2D4F-42AE-84B1-B793A4845D44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1DFE4C-714C-500F-86DE-D65C16A82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239D82-C374-04E7-AB39-0AEDB7A8B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98EE3-F5AD-4150-B429-CF7FA7F19F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2187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F5926-5840-7351-81BC-2F9DDB55B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D7429A4-202B-8C7A-C4CE-E6E95695AF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62F4E8C-090B-9851-1862-9BB6A0938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917E97-AE54-2F47-1B93-F3848B48B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9FBA-2D4F-42AE-84B1-B793A4845D44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268D42-95D9-890F-F07A-6E9280D6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696E56-0A7F-B1A9-7953-BAA0316AF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98EE3-F5AD-4150-B429-CF7FA7F19F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958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360B4E-A050-4923-8007-37717ED72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A0F5228-9DC7-0F0D-9133-E2FE7892A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A23199-5785-B562-06EF-E31E608B3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9FBA-2D4F-42AE-84B1-B793A4845D44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DB68D2-9484-0CAF-FAD5-2CA0667DD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267F5D-1F4F-4762-931F-E1F863BEC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98EE3-F5AD-4150-B429-CF7FA7F19F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4679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86FE1B5-B080-3298-A6F6-0EEA74E270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9B083A6-112D-34A4-ED6C-0BBDE424B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42B893-9B4B-D4BB-4C68-4F335CF50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9FBA-2D4F-42AE-84B1-B793A4845D44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53AF07-CB48-95BB-E9A6-6BEA6E264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830F64-845B-AE55-DB57-8ABDF70C4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98EE3-F5AD-4150-B429-CF7FA7F19F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408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56BBD61-8513-8978-47DC-27904B7F0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F6ADA5-F814-FBE5-3FB2-4501ABB85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B3B63F-9CE3-8F68-8E12-B2C542FEBE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919FBA-2D4F-42AE-84B1-B793A4845D44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BE14C6-CA7B-0955-AAA4-AD1DE6B0A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9E659A-B3EF-DAB6-7C0F-0A660DA03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F98EE3-F5AD-4150-B429-CF7FA7F19F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039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60BB1-B37D-B630-6A5D-AA7412AEA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05DC8FB-64D3-2DD2-9A5E-EC9F5ED417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263" b="37500"/>
          <a:stretch/>
        </p:blipFill>
        <p:spPr>
          <a:xfrm>
            <a:off x="10894958" y="6384869"/>
            <a:ext cx="1297042" cy="418125"/>
          </a:xfrm>
          <a:prstGeom prst="rect">
            <a:avLst/>
          </a:prstGeom>
        </p:spPr>
      </p:pic>
      <p:sp>
        <p:nvSpPr>
          <p:cNvPr id="6" name="object 9">
            <a:extLst>
              <a:ext uri="{FF2B5EF4-FFF2-40B4-BE49-F238E27FC236}">
                <a16:creationId xmlns:a16="http://schemas.microsoft.com/office/drawing/2014/main" id="{7C70C185-CB6D-DD85-A008-4BD2A0D29374}"/>
              </a:ext>
            </a:extLst>
          </p:cNvPr>
          <p:cNvSpPr txBox="1"/>
          <p:nvPr/>
        </p:nvSpPr>
        <p:spPr>
          <a:xfrm>
            <a:off x="9587230" y="303402"/>
            <a:ext cx="208089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100" spc="-30" dirty="0">
                <a:latin typeface="Arial MT"/>
                <a:cs typeface="Arial MT"/>
              </a:rPr>
              <a:t>Dados</a:t>
            </a:r>
            <a:r>
              <a:rPr lang="pt-BR" sz="1100" spc="-45" dirty="0">
                <a:latin typeface="Arial MT"/>
                <a:cs typeface="Arial MT"/>
              </a:rPr>
              <a:t> </a:t>
            </a:r>
            <a:r>
              <a:rPr lang="pt-BR" sz="1100" spc="-30" dirty="0">
                <a:latin typeface="Arial MT"/>
                <a:cs typeface="Arial MT"/>
              </a:rPr>
              <a:t>atualizados</a:t>
            </a:r>
            <a:r>
              <a:rPr lang="pt-BR" sz="1100" spc="-20" dirty="0">
                <a:latin typeface="Arial MT"/>
                <a:cs typeface="Arial MT"/>
              </a:rPr>
              <a:t> </a:t>
            </a:r>
            <a:r>
              <a:rPr lang="pt-BR" sz="1100" spc="-10" dirty="0">
                <a:latin typeface="Arial MT"/>
                <a:cs typeface="Arial MT"/>
              </a:rPr>
              <a:t>06/04/2026</a:t>
            </a:r>
            <a:endParaRPr lang="pt-BR" sz="1100" dirty="0">
              <a:latin typeface="Arial MT"/>
              <a:cs typeface="Arial MT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D60066D6-B569-7F87-2266-5DA2610C2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996" y="78105"/>
            <a:ext cx="8637041" cy="430887"/>
          </a:xfrm>
        </p:spPr>
        <p:txBody>
          <a:bodyPr>
            <a:normAutofit fontScale="90000"/>
          </a:bodyPr>
          <a:lstStyle/>
          <a:p>
            <a:r>
              <a:rPr lang="pt-BR" sz="2800" spc="-10" dirty="0"/>
              <a:t>PRODUTIVIDADE EQUIPES PREVENTIVAS</a:t>
            </a:r>
            <a:endParaRPr lang="pt-BR" sz="2800" dirty="0"/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76ECF352-64E3-E472-C158-387BA0062B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9537630"/>
              </p:ext>
            </p:extLst>
          </p:nvPr>
        </p:nvGraphicFramePr>
        <p:xfrm>
          <a:off x="235228" y="854765"/>
          <a:ext cx="7785650" cy="53325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0903B8C2-EFC2-4597-E1F8-A4CC5F13B3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614247"/>
              </p:ext>
            </p:extLst>
          </p:nvPr>
        </p:nvGraphicFramePr>
        <p:xfrm>
          <a:off x="8879306" y="567371"/>
          <a:ext cx="2517216" cy="1245760"/>
        </p:xfrm>
        <a:graphic>
          <a:graphicData uri="http://schemas.openxmlformats.org/drawingml/2006/table">
            <a:tbl>
              <a:tblPr/>
              <a:tblGrid>
                <a:gridCol w="867439">
                  <a:extLst>
                    <a:ext uri="{9D8B030D-6E8A-4147-A177-3AD203B41FA5}">
                      <a16:colId xmlns:a16="http://schemas.microsoft.com/office/drawing/2014/main" val="2044488510"/>
                    </a:ext>
                  </a:extLst>
                </a:gridCol>
                <a:gridCol w="499704">
                  <a:extLst>
                    <a:ext uri="{9D8B030D-6E8A-4147-A177-3AD203B41FA5}">
                      <a16:colId xmlns:a16="http://schemas.microsoft.com/office/drawing/2014/main" val="3260276491"/>
                    </a:ext>
                  </a:extLst>
                </a:gridCol>
                <a:gridCol w="469748">
                  <a:extLst>
                    <a:ext uri="{9D8B030D-6E8A-4147-A177-3AD203B41FA5}">
                      <a16:colId xmlns:a16="http://schemas.microsoft.com/office/drawing/2014/main" val="1639479597"/>
                    </a:ext>
                  </a:extLst>
                </a:gridCol>
                <a:gridCol w="680325">
                  <a:extLst>
                    <a:ext uri="{9D8B030D-6E8A-4147-A177-3AD203B41FA5}">
                      <a16:colId xmlns:a16="http://schemas.microsoft.com/office/drawing/2014/main" val="551226869"/>
                    </a:ext>
                  </a:extLst>
                </a:gridCol>
              </a:tblGrid>
              <a:tr h="208332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EFETIVO JANEIRO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082033"/>
                  </a:ext>
                </a:extLst>
              </a:tr>
              <a:tr h="2083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FUNÇÃO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MBA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PBA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RFSL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816778"/>
                  </a:ext>
                </a:extLst>
              </a:tr>
              <a:tr h="2295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SERVENTE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970188"/>
                  </a:ext>
                </a:extLst>
              </a:tr>
              <a:tr h="2083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OFICIAL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635545"/>
                  </a:ext>
                </a:extLst>
              </a:tr>
              <a:tr h="208332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JORNADA MÉDIA (H)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874636"/>
                  </a:ext>
                </a:extLst>
              </a:tr>
              <a:tr h="17361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253488"/>
                  </a:ext>
                </a:extLst>
              </a:tr>
            </a:tbl>
          </a:graphicData>
        </a:graphic>
      </p:graphicFrame>
      <p:graphicFrame>
        <p:nvGraphicFramePr>
          <p:cNvPr id="23" name="Tabela 22">
            <a:extLst>
              <a:ext uri="{FF2B5EF4-FFF2-40B4-BE49-F238E27FC236}">
                <a16:creationId xmlns:a16="http://schemas.microsoft.com/office/drawing/2014/main" id="{C0E6B42E-DD7B-8C7E-82BA-C25E2B4E2C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76025"/>
              </p:ext>
            </p:extLst>
          </p:nvPr>
        </p:nvGraphicFramePr>
        <p:xfrm>
          <a:off x="8173557" y="2558809"/>
          <a:ext cx="3928714" cy="739140"/>
        </p:xfrm>
        <a:graphic>
          <a:graphicData uri="http://schemas.openxmlformats.org/drawingml/2006/table">
            <a:tbl>
              <a:tblPr/>
              <a:tblGrid>
                <a:gridCol w="3928714">
                  <a:extLst>
                    <a:ext uri="{9D8B030D-6E8A-4147-A177-3AD203B41FA5}">
                      <a16:colId xmlns:a16="http://schemas.microsoft.com/office/drawing/2014/main" val="24872128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MARABÁ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46150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REGISTRO DE 4 DIAS HIMP</a:t>
                      </a:r>
                    </a:p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DIAS – RECESSO ANO NOVO</a:t>
                      </a:r>
                    </a:p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DIAS – BENGALA VENCIDA CAMINHÃO EBES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067240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B48E4930-CFA0-68C8-FBE0-D41651D0E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902888"/>
              </p:ext>
            </p:extLst>
          </p:nvPr>
        </p:nvGraphicFramePr>
        <p:xfrm>
          <a:off x="8173557" y="3359860"/>
          <a:ext cx="3928714" cy="739140"/>
        </p:xfrm>
        <a:graphic>
          <a:graphicData uri="http://schemas.openxmlformats.org/drawingml/2006/table">
            <a:tbl>
              <a:tblPr/>
              <a:tblGrid>
                <a:gridCol w="3928714">
                  <a:extLst>
                    <a:ext uri="{9D8B030D-6E8A-4147-A177-3AD203B41FA5}">
                      <a16:colId xmlns:a16="http://schemas.microsoft.com/office/drawing/2014/main" val="24872128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PARAUAPEBAS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46150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REGISTRO DE 4 DIAS HIMP</a:t>
                      </a:r>
                    </a:p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DIAS – RECESSO ANO NOVO</a:t>
                      </a:r>
                    </a:p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DIAS – DOCUMENTAÇÃO CAMINHÃO EBES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067240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978ED42C-2166-4649-97C7-5B75D6D07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334335"/>
              </p:ext>
            </p:extLst>
          </p:nvPr>
        </p:nvGraphicFramePr>
        <p:xfrm>
          <a:off x="8173557" y="4160911"/>
          <a:ext cx="3928714" cy="739140"/>
        </p:xfrm>
        <a:graphic>
          <a:graphicData uri="http://schemas.openxmlformats.org/drawingml/2006/table">
            <a:tbl>
              <a:tblPr/>
              <a:tblGrid>
                <a:gridCol w="3928714">
                  <a:extLst>
                    <a:ext uri="{9D8B030D-6E8A-4147-A177-3AD203B41FA5}">
                      <a16:colId xmlns:a16="http://schemas.microsoft.com/office/drawing/2014/main" val="24872128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CANAÃ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46150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REGISTRO DE 5 DIAS HIMP</a:t>
                      </a:r>
                    </a:p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DIAS – RECESSO ANO NOVO</a:t>
                      </a:r>
                    </a:p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DIAS – CAMINHÃO EBES INTERDITADO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067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1316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177C3-E8A0-9A12-57B4-5CBC6B36C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CEAA1E0-0934-D365-E744-8F35D0F43B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263" b="37500"/>
          <a:stretch/>
        </p:blipFill>
        <p:spPr>
          <a:xfrm>
            <a:off x="10894958" y="6384869"/>
            <a:ext cx="1297042" cy="418125"/>
          </a:xfrm>
          <a:prstGeom prst="rect">
            <a:avLst/>
          </a:prstGeom>
        </p:spPr>
      </p:pic>
      <p:sp>
        <p:nvSpPr>
          <p:cNvPr id="6" name="object 9">
            <a:extLst>
              <a:ext uri="{FF2B5EF4-FFF2-40B4-BE49-F238E27FC236}">
                <a16:creationId xmlns:a16="http://schemas.microsoft.com/office/drawing/2014/main" id="{AB1FFAA9-829F-0743-1895-4056192DD8B0}"/>
              </a:ext>
            </a:extLst>
          </p:cNvPr>
          <p:cNvSpPr txBox="1"/>
          <p:nvPr/>
        </p:nvSpPr>
        <p:spPr>
          <a:xfrm>
            <a:off x="9587230" y="303402"/>
            <a:ext cx="208089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100" spc="-30" dirty="0">
                <a:latin typeface="Arial MT"/>
                <a:cs typeface="Arial MT"/>
              </a:rPr>
              <a:t>Dados</a:t>
            </a:r>
            <a:r>
              <a:rPr lang="pt-BR" sz="1100" spc="-45" dirty="0">
                <a:latin typeface="Arial MT"/>
                <a:cs typeface="Arial MT"/>
              </a:rPr>
              <a:t> </a:t>
            </a:r>
            <a:r>
              <a:rPr lang="pt-BR" sz="1100" spc="-30" dirty="0">
                <a:latin typeface="Arial MT"/>
                <a:cs typeface="Arial MT"/>
              </a:rPr>
              <a:t>atualizados</a:t>
            </a:r>
            <a:r>
              <a:rPr lang="pt-BR" sz="1100" spc="-20" dirty="0">
                <a:latin typeface="Arial MT"/>
                <a:cs typeface="Arial MT"/>
              </a:rPr>
              <a:t> </a:t>
            </a:r>
            <a:r>
              <a:rPr lang="pt-BR" sz="1100" spc="-10" dirty="0">
                <a:latin typeface="Arial MT"/>
                <a:cs typeface="Arial MT"/>
              </a:rPr>
              <a:t>06/04/2026</a:t>
            </a:r>
            <a:endParaRPr lang="pt-BR" sz="1100" dirty="0">
              <a:latin typeface="Arial MT"/>
              <a:cs typeface="Arial MT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83C6EEB8-FDB9-ADFF-1F23-023F01512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996" y="78105"/>
            <a:ext cx="8637041" cy="430887"/>
          </a:xfrm>
        </p:spPr>
        <p:txBody>
          <a:bodyPr>
            <a:normAutofit fontScale="90000"/>
          </a:bodyPr>
          <a:lstStyle/>
          <a:p>
            <a:r>
              <a:rPr lang="pt-BR" sz="2800" spc="-10" dirty="0"/>
              <a:t>PRODUTIVIDADE EQUIPES PREVENTIVAS</a:t>
            </a:r>
            <a:endParaRPr lang="pt-BR" sz="2800" dirty="0"/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5328BE22-3D9B-C9A8-250E-20051352C9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2933097"/>
              </p:ext>
            </p:extLst>
          </p:nvPr>
        </p:nvGraphicFramePr>
        <p:xfrm>
          <a:off x="235228" y="854765"/>
          <a:ext cx="7785650" cy="53325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02440FC5-F3B6-0D12-6C9B-DCBE38C44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569193"/>
              </p:ext>
            </p:extLst>
          </p:nvPr>
        </p:nvGraphicFramePr>
        <p:xfrm>
          <a:off x="8799793" y="974288"/>
          <a:ext cx="2517216" cy="1245760"/>
        </p:xfrm>
        <a:graphic>
          <a:graphicData uri="http://schemas.openxmlformats.org/drawingml/2006/table">
            <a:tbl>
              <a:tblPr/>
              <a:tblGrid>
                <a:gridCol w="867439">
                  <a:extLst>
                    <a:ext uri="{9D8B030D-6E8A-4147-A177-3AD203B41FA5}">
                      <a16:colId xmlns:a16="http://schemas.microsoft.com/office/drawing/2014/main" val="2044488510"/>
                    </a:ext>
                  </a:extLst>
                </a:gridCol>
                <a:gridCol w="499704">
                  <a:extLst>
                    <a:ext uri="{9D8B030D-6E8A-4147-A177-3AD203B41FA5}">
                      <a16:colId xmlns:a16="http://schemas.microsoft.com/office/drawing/2014/main" val="3260276491"/>
                    </a:ext>
                  </a:extLst>
                </a:gridCol>
                <a:gridCol w="469748">
                  <a:extLst>
                    <a:ext uri="{9D8B030D-6E8A-4147-A177-3AD203B41FA5}">
                      <a16:colId xmlns:a16="http://schemas.microsoft.com/office/drawing/2014/main" val="1639479597"/>
                    </a:ext>
                  </a:extLst>
                </a:gridCol>
                <a:gridCol w="680325">
                  <a:extLst>
                    <a:ext uri="{9D8B030D-6E8A-4147-A177-3AD203B41FA5}">
                      <a16:colId xmlns:a16="http://schemas.microsoft.com/office/drawing/2014/main" val="551226869"/>
                    </a:ext>
                  </a:extLst>
                </a:gridCol>
              </a:tblGrid>
              <a:tr h="208332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EFETIVO FEVEREIRO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082033"/>
                  </a:ext>
                </a:extLst>
              </a:tr>
              <a:tr h="2083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FUNÇÃO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MBA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PBA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RFSL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816778"/>
                  </a:ext>
                </a:extLst>
              </a:tr>
              <a:tr h="2295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SERVENTE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970188"/>
                  </a:ext>
                </a:extLst>
              </a:tr>
              <a:tr h="2083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OFICIAL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635545"/>
                  </a:ext>
                </a:extLst>
              </a:tr>
              <a:tr h="208332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JORNADA MÉDIA (H)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874636"/>
                  </a:ext>
                </a:extLst>
              </a:tr>
              <a:tr h="17361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253488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2790DDB5-EF83-D056-A7EB-1C42845AF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141859"/>
              </p:ext>
            </p:extLst>
          </p:nvPr>
        </p:nvGraphicFramePr>
        <p:xfrm>
          <a:off x="8173557" y="2558809"/>
          <a:ext cx="3928714" cy="556260"/>
        </p:xfrm>
        <a:graphic>
          <a:graphicData uri="http://schemas.openxmlformats.org/drawingml/2006/table">
            <a:tbl>
              <a:tblPr/>
              <a:tblGrid>
                <a:gridCol w="3928714">
                  <a:extLst>
                    <a:ext uri="{9D8B030D-6E8A-4147-A177-3AD203B41FA5}">
                      <a16:colId xmlns:a16="http://schemas.microsoft.com/office/drawing/2014/main" val="24872128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MARABÁ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46150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REGISTRO DE 4 DIA HIMP</a:t>
                      </a:r>
                    </a:p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DIA – CAMINHÃO EBES EM MANUTENÇÃO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067240"/>
                  </a:ext>
                </a:extLst>
              </a:tr>
            </a:tbl>
          </a:graphicData>
        </a:graphic>
      </p:graphicFrame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B5D101D1-8EF8-7CEB-205A-4C7B44E985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130873"/>
              </p:ext>
            </p:extLst>
          </p:nvPr>
        </p:nvGraphicFramePr>
        <p:xfrm>
          <a:off x="8173557" y="3359860"/>
          <a:ext cx="3928714" cy="739140"/>
        </p:xfrm>
        <a:graphic>
          <a:graphicData uri="http://schemas.openxmlformats.org/drawingml/2006/table">
            <a:tbl>
              <a:tblPr/>
              <a:tblGrid>
                <a:gridCol w="3928714">
                  <a:extLst>
                    <a:ext uri="{9D8B030D-6E8A-4147-A177-3AD203B41FA5}">
                      <a16:colId xmlns:a16="http://schemas.microsoft.com/office/drawing/2014/main" val="24872128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PARAUAPEBAS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46150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REGISTRO DE 3 DIAS HIMP</a:t>
                      </a:r>
                    </a:p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DIAS – CAMINHÃO EBES EM MANUTENÇÃO</a:t>
                      </a:r>
                    </a:p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DIA – TREM RETIDO NA LINHA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067240"/>
                  </a:ext>
                </a:extLst>
              </a:tr>
            </a:tbl>
          </a:graphicData>
        </a:graphic>
      </p:graphicFrame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3FF5B341-E106-E262-1DC6-9BC06B835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735997"/>
              </p:ext>
            </p:extLst>
          </p:nvPr>
        </p:nvGraphicFramePr>
        <p:xfrm>
          <a:off x="8173557" y="4160911"/>
          <a:ext cx="3928714" cy="556260"/>
        </p:xfrm>
        <a:graphic>
          <a:graphicData uri="http://schemas.openxmlformats.org/drawingml/2006/table">
            <a:tbl>
              <a:tblPr/>
              <a:tblGrid>
                <a:gridCol w="3928714">
                  <a:extLst>
                    <a:ext uri="{9D8B030D-6E8A-4147-A177-3AD203B41FA5}">
                      <a16:colId xmlns:a16="http://schemas.microsoft.com/office/drawing/2014/main" val="24872128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CANAÃ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46150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REGISTRO DE 3 DIAS HIMP</a:t>
                      </a:r>
                    </a:p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DIAS – CAMINHÃO EBES INTERDITADO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067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0325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AA20D-5FA3-3DDF-FE13-8868215EA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1EEEE8B-9488-D658-5B80-04230F62C0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263" b="37500"/>
          <a:stretch/>
        </p:blipFill>
        <p:spPr>
          <a:xfrm>
            <a:off x="10894958" y="6384869"/>
            <a:ext cx="1297042" cy="418125"/>
          </a:xfrm>
          <a:prstGeom prst="rect">
            <a:avLst/>
          </a:prstGeom>
        </p:spPr>
      </p:pic>
      <p:sp>
        <p:nvSpPr>
          <p:cNvPr id="6" name="object 9">
            <a:extLst>
              <a:ext uri="{FF2B5EF4-FFF2-40B4-BE49-F238E27FC236}">
                <a16:creationId xmlns:a16="http://schemas.microsoft.com/office/drawing/2014/main" id="{2AC5520E-E85D-1A4F-D0D4-01761F5F8C1D}"/>
              </a:ext>
            </a:extLst>
          </p:cNvPr>
          <p:cNvSpPr txBox="1"/>
          <p:nvPr/>
        </p:nvSpPr>
        <p:spPr>
          <a:xfrm>
            <a:off x="9587230" y="303402"/>
            <a:ext cx="208089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100" spc="-30" dirty="0">
                <a:latin typeface="Arial MT"/>
                <a:cs typeface="Arial MT"/>
              </a:rPr>
              <a:t>Dados</a:t>
            </a:r>
            <a:r>
              <a:rPr lang="pt-BR" sz="1100" spc="-45" dirty="0">
                <a:latin typeface="Arial MT"/>
                <a:cs typeface="Arial MT"/>
              </a:rPr>
              <a:t> </a:t>
            </a:r>
            <a:r>
              <a:rPr lang="pt-BR" sz="1100" spc="-30" dirty="0">
                <a:latin typeface="Arial MT"/>
                <a:cs typeface="Arial MT"/>
              </a:rPr>
              <a:t>atualizados</a:t>
            </a:r>
            <a:r>
              <a:rPr lang="pt-BR" sz="1100" spc="-20" dirty="0">
                <a:latin typeface="Arial MT"/>
                <a:cs typeface="Arial MT"/>
              </a:rPr>
              <a:t> </a:t>
            </a:r>
            <a:r>
              <a:rPr lang="pt-BR" sz="1100" spc="-10" dirty="0">
                <a:latin typeface="Arial MT"/>
                <a:cs typeface="Arial MT"/>
              </a:rPr>
              <a:t>06/04/2026</a:t>
            </a:r>
            <a:endParaRPr lang="pt-BR" sz="1100" dirty="0">
              <a:latin typeface="Arial MT"/>
              <a:cs typeface="Arial MT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BB90B6AF-100D-960E-6CE1-4A7CA2D8D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996" y="78105"/>
            <a:ext cx="8637041" cy="430887"/>
          </a:xfrm>
        </p:spPr>
        <p:txBody>
          <a:bodyPr>
            <a:normAutofit fontScale="90000"/>
          </a:bodyPr>
          <a:lstStyle/>
          <a:p>
            <a:r>
              <a:rPr lang="pt-BR" sz="2800" spc="-10" dirty="0"/>
              <a:t>PRODUTIVIDADE EQUIPES PREVENTIVAS</a:t>
            </a:r>
            <a:endParaRPr lang="pt-BR" sz="2800" dirty="0"/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F031D2D8-D6D3-A15F-603E-78ACCCC5E1DC}"/>
              </a:ext>
            </a:extLst>
          </p:cNvPr>
          <p:cNvGraphicFramePr/>
          <p:nvPr/>
        </p:nvGraphicFramePr>
        <p:xfrm>
          <a:off x="235228" y="854765"/>
          <a:ext cx="7785650" cy="53325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1A05AA66-B0E2-38DD-FEE0-E47ABE8C89D9}"/>
              </a:ext>
            </a:extLst>
          </p:cNvPr>
          <p:cNvGraphicFramePr>
            <a:graphicFrameLocks noGrp="1"/>
          </p:cNvGraphicFramePr>
          <p:nvPr/>
        </p:nvGraphicFramePr>
        <p:xfrm>
          <a:off x="8799793" y="974288"/>
          <a:ext cx="2517216" cy="1245760"/>
        </p:xfrm>
        <a:graphic>
          <a:graphicData uri="http://schemas.openxmlformats.org/drawingml/2006/table">
            <a:tbl>
              <a:tblPr/>
              <a:tblGrid>
                <a:gridCol w="867439">
                  <a:extLst>
                    <a:ext uri="{9D8B030D-6E8A-4147-A177-3AD203B41FA5}">
                      <a16:colId xmlns:a16="http://schemas.microsoft.com/office/drawing/2014/main" val="2044488510"/>
                    </a:ext>
                  </a:extLst>
                </a:gridCol>
                <a:gridCol w="499704">
                  <a:extLst>
                    <a:ext uri="{9D8B030D-6E8A-4147-A177-3AD203B41FA5}">
                      <a16:colId xmlns:a16="http://schemas.microsoft.com/office/drawing/2014/main" val="3260276491"/>
                    </a:ext>
                  </a:extLst>
                </a:gridCol>
                <a:gridCol w="469748">
                  <a:extLst>
                    <a:ext uri="{9D8B030D-6E8A-4147-A177-3AD203B41FA5}">
                      <a16:colId xmlns:a16="http://schemas.microsoft.com/office/drawing/2014/main" val="1639479597"/>
                    </a:ext>
                  </a:extLst>
                </a:gridCol>
                <a:gridCol w="680325">
                  <a:extLst>
                    <a:ext uri="{9D8B030D-6E8A-4147-A177-3AD203B41FA5}">
                      <a16:colId xmlns:a16="http://schemas.microsoft.com/office/drawing/2014/main" val="551226869"/>
                    </a:ext>
                  </a:extLst>
                </a:gridCol>
              </a:tblGrid>
              <a:tr h="208332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EFETIVO MARÇO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082033"/>
                  </a:ext>
                </a:extLst>
              </a:tr>
              <a:tr h="2083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FUNÇÃO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MBA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PBA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RFSL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816778"/>
                  </a:ext>
                </a:extLst>
              </a:tr>
              <a:tr h="2295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SERVENTE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970188"/>
                  </a:ext>
                </a:extLst>
              </a:tr>
              <a:tr h="2083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OFICIAL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635545"/>
                  </a:ext>
                </a:extLst>
              </a:tr>
              <a:tr h="208332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JORNADA MÉDIA (H)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874636"/>
                  </a:ext>
                </a:extLst>
              </a:tr>
              <a:tr h="17361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253488"/>
                  </a:ext>
                </a:extLst>
              </a:tr>
            </a:tbl>
          </a:graphicData>
        </a:graphic>
      </p:graphicFrame>
      <p:graphicFrame>
        <p:nvGraphicFramePr>
          <p:cNvPr id="23" name="Tabela 22">
            <a:extLst>
              <a:ext uri="{FF2B5EF4-FFF2-40B4-BE49-F238E27FC236}">
                <a16:creationId xmlns:a16="http://schemas.microsoft.com/office/drawing/2014/main" id="{BD402185-F615-9FC3-D5E4-7BEA28119AD4}"/>
              </a:ext>
            </a:extLst>
          </p:cNvPr>
          <p:cNvGraphicFramePr>
            <a:graphicFrameLocks noGrp="1"/>
          </p:cNvGraphicFramePr>
          <p:nvPr/>
        </p:nvGraphicFramePr>
        <p:xfrm>
          <a:off x="8097637" y="2366517"/>
          <a:ext cx="3928714" cy="1181100"/>
        </p:xfrm>
        <a:graphic>
          <a:graphicData uri="http://schemas.openxmlformats.org/drawingml/2006/table">
            <a:tbl>
              <a:tblPr/>
              <a:tblGrid>
                <a:gridCol w="986110">
                  <a:extLst>
                    <a:ext uri="{9D8B030D-6E8A-4147-A177-3AD203B41FA5}">
                      <a16:colId xmlns:a16="http://schemas.microsoft.com/office/drawing/2014/main" val="248721287"/>
                    </a:ext>
                  </a:extLst>
                </a:gridCol>
                <a:gridCol w="988272">
                  <a:extLst>
                    <a:ext uri="{9D8B030D-6E8A-4147-A177-3AD203B41FA5}">
                      <a16:colId xmlns:a16="http://schemas.microsoft.com/office/drawing/2014/main" val="157463421"/>
                    </a:ext>
                  </a:extLst>
                </a:gridCol>
                <a:gridCol w="877228">
                  <a:extLst>
                    <a:ext uri="{9D8B030D-6E8A-4147-A177-3AD203B41FA5}">
                      <a16:colId xmlns:a16="http://schemas.microsoft.com/office/drawing/2014/main" val="1059379357"/>
                    </a:ext>
                  </a:extLst>
                </a:gridCol>
                <a:gridCol w="1077104">
                  <a:extLst>
                    <a:ext uri="{9D8B030D-6E8A-4147-A177-3AD203B41FA5}">
                      <a16:colId xmlns:a16="http://schemas.microsoft.com/office/drawing/2014/main" val="1404535110"/>
                    </a:ext>
                  </a:extLst>
                </a:gridCol>
              </a:tblGrid>
              <a:tr h="19050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MARABÁ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461501"/>
                  </a:ext>
                </a:extLst>
              </a:tr>
              <a:tr h="18288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PRODUTIVIDADE/HORA DA EQUIPE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988289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LIMPEZA CANALETA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LIMPEZA MEIO FIO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ROÇADA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REC. DE DRENAGEM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43946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27,97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8,89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246,18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1,70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679972"/>
                  </a:ext>
                </a:extLst>
              </a:tr>
              <a:tr h="23622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REGISTRO DE 2 DIAS HIMP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067240"/>
                  </a:ext>
                </a:extLst>
              </a:tr>
            </a:tbl>
          </a:graphicData>
        </a:graphic>
      </p:graphicFrame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71987B7B-3632-7E0A-9554-978E5746ACC1}"/>
              </a:ext>
            </a:extLst>
          </p:cNvPr>
          <p:cNvGraphicFramePr>
            <a:graphicFrameLocks noGrp="1"/>
          </p:cNvGraphicFramePr>
          <p:nvPr/>
        </p:nvGraphicFramePr>
        <p:xfrm>
          <a:off x="8090453" y="3678931"/>
          <a:ext cx="3935897" cy="1167240"/>
        </p:xfrm>
        <a:graphic>
          <a:graphicData uri="http://schemas.openxmlformats.org/drawingml/2006/table">
            <a:tbl>
              <a:tblPr/>
              <a:tblGrid>
                <a:gridCol w="741743">
                  <a:extLst>
                    <a:ext uri="{9D8B030D-6E8A-4147-A177-3AD203B41FA5}">
                      <a16:colId xmlns:a16="http://schemas.microsoft.com/office/drawing/2014/main" val="248721287"/>
                    </a:ext>
                  </a:extLst>
                </a:gridCol>
                <a:gridCol w="741744">
                  <a:extLst>
                    <a:ext uri="{9D8B030D-6E8A-4147-A177-3AD203B41FA5}">
                      <a16:colId xmlns:a16="http://schemas.microsoft.com/office/drawing/2014/main" val="2254762633"/>
                    </a:ext>
                  </a:extLst>
                </a:gridCol>
                <a:gridCol w="556307">
                  <a:extLst>
                    <a:ext uri="{9D8B030D-6E8A-4147-A177-3AD203B41FA5}">
                      <a16:colId xmlns:a16="http://schemas.microsoft.com/office/drawing/2014/main" val="108727051"/>
                    </a:ext>
                  </a:extLst>
                </a:gridCol>
                <a:gridCol w="956459">
                  <a:extLst>
                    <a:ext uri="{9D8B030D-6E8A-4147-A177-3AD203B41FA5}">
                      <a16:colId xmlns:a16="http://schemas.microsoft.com/office/drawing/2014/main" val="3754954751"/>
                    </a:ext>
                  </a:extLst>
                </a:gridCol>
                <a:gridCol w="939644">
                  <a:extLst>
                    <a:ext uri="{9D8B030D-6E8A-4147-A177-3AD203B41FA5}">
                      <a16:colId xmlns:a16="http://schemas.microsoft.com/office/drawing/2014/main" val="157463421"/>
                    </a:ext>
                  </a:extLst>
                </a:gridCol>
              </a:tblGrid>
              <a:tr h="190500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PARAUAPEBAS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18461501"/>
                  </a:ext>
                </a:extLst>
              </a:tr>
              <a:tr h="182880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PRODUTIVIDADE/HORA DA EQUIPE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90988289"/>
                  </a:ext>
                </a:extLst>
              </a:tr>
              <a:tr h="601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LIMP. CANALETA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LIMP. BUEIROS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ROÇO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REC. DE DRENAGEM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SINAL.</a:t>
                      </a:r>
                    </a:p>
                    <a:p>
                      <a:pPr algn="ctr" fontAlgn="b">
                        <a:buNone/>
                      </a:pPr>
                      <a:r>
                        <a:rPr lang="pt-B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GRÁFICA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439463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18,67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135,56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679972"/>
                  </a:ext>
                </a:extLst>
              </a:tr>
              <a:tr h="236220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REGISTRO DE 3 DIAS HIMP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71067240"/>
                  </a:ext>
                </a:extLst>
              </a:tr>
            </a:tbl>
          </a:graphicData>
        </a:graphic>
      </p:graphicFrame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2442F57-9040-DEDB-1D45-5B58BF5B78E0}"/>
              </a:ext>
            </a:extLst>
          </p:cNvPr>
          <p:cNvGraphicFramePr>
            <a:graphicFrameLocks noGrp="1"/>
          </p:cNvGraphicFramePr>
          <p:nvPr/>
        </p:nvGraphicFramePr>
        <p:xfrm>
          <a:off x="8097635" y="4975764"/>
          <a:ext cx="3928716" cy="1211580"/>
        </p:xfrm>
        <a:graphic>
          <a:graphicData uri="http://schemas.openxmlformats.org/drawingml/2006/table">
            <a:tbl>
              <a:tblPr/>
              <a:tblGrid>
                <a:gridCol w="982179">
                  <a:extLst>
                    <a:ext uri="{9D8B030D-6E8A-4147-A177-3AD203B41FA5}">
                      <a16:colId xmlns:a16="http://schemas.microsoft.com/office/drawing/2014/main" val="248721287"/>
                    </a:ext>
                  </a:extLst>
                </a:gridCol>
                <a:gridCol w="982179">
                  <a:extLst>
                    <a:ext uri="{9D8B030D-6E8A-4147-A177-3AD203B41FA5}">
                      <a16:colId xmlns:a16="http://schemas.microsoft.com/office/drawing/2014/main" val="3154938101"/>
                    </a:ext>
                  </a:extLst>
                </a:gridCol>
                <a:gridCol w="982179">
                  <a:extLst>
                    <a:ext uri="{9D8B030D-6E8A-4147-A177-3AD203B41FA5}">
                      <a16:colId xmlns:a16="http://schemas.microsoft.com/office/drawing/2014/main" val="4291385220"/>
                    </a:ext>
                  </a:extLst>
                </a:gridCol>
                <a:gridCol w="982179">
                  <a:extLst>
                    <a:ext uri="{9D8B030D-6E8A-4147-A177-3AD203B41FA5}">
                      <a16:colId xmlns:a16="http://schemas.microsoft.com/office/drawing/2014/main" val="157463421"/>
                    </a:ext>
                  </a:extLst>
                </a:gridCol>
              </a:tblGrid>
              <a:tr h="19050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CANAÃ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461501"/>
                  </a:ext>
                </a:extLst>
              </a:tr>
              <a:tr h="18288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PRODUTIVIDADE/HORA DA EQUIPE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988289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LIMPEZA CANALETA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LIMPEZA   MEIO-FIO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ROÇADA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PODA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43946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5,22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0,36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107,86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0,97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679972"/>
                  </a:ext>
                </a:extLst>
              </a:tr>
              <a:tr h="23622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REGISTRO DE 2 DIAS HIMP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67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371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60BB1-B37D-B630-6A5D-AA7412AEA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05DC8FB-64D3-2DD2-9A5E-EC9F5ED417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263" b="37500"/>
          <a:stretch/>
        </p:blipFill>
        <p:spPr>
          <a:xfrm>
            <a:off x="10894958" y="6384869"/>
            <a:ext cx="1297042" cy="418125"/>
          </a:xfrm>
          <a:prstGeom prst="rect">
            <a:avLst/>
          </a:prstGeom>
        </p:spPr>
      </p:pic>
      <p:sp>
        <p:nvSpPr>
          <p:cNvPr id="6" name="object 9">
            <a:extLst>
              <a:ext uri="{FF2B5EF4-FFF2-40B4-BE49-F238E27FC236}">
                <a16:creationId xmlns:a16="http://schemas.microsoft.com/office/drawing/2014/main" id="{7C70C185-CB6D-DD85-A008-4BD2A0D29374}"/>
              </a:ext>
            </a:extLst>
          </p:cNvPr>
          <p:cNvSpPr txBox="1"/>
          <p:nvPr/>
        </p:nvSpPr>
        <p:spPr>
          <a:xfrm>
            <a:off x="9587230" y="303402"/>
            <a:ext cx="208089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100" spc="-30" dirty="0">
                <a:latin typeface="Arial MT"/>
                <a:cs typeface="Arial MT"/>
              </a:rPr>
              <a:t>Dados</a:t>
            </a:r>
            <a:r>
              <a:rPr lang="pt-BR" sz="1100" spc="-45" dirty="0">
                <a:latin typeface="Arial MT"/>
                <a:cs typeface="Arial MT"/>
              </a:rPr>
              <a:t> </a:t>
            </a:r>
            <a:r>
              <a:rPr lang="pt-BR" sz="1100" spc="-30" dirty="0">
                <a:latin typeface="Arial MT"/>
                <a:cs typeface="Arial MT"/>
              </a:rPr>
              <a:t>atualizados</a:t>
            </a:r>
            <a:r>
              <a:rPr lang="pt-BR" sz="1100" spc="-20" dirty="0">
                <a:latin typeface="Arial MT"/>
                <a:cs typeface="Arial MT"/>
              </a:rPr>
              <a:t> </a:t>
            </a:r>
            <a:r>
              <a:rPr lang="pt-BR" sz="1100" spc="-10" dirty="0">
                <a:latin typeface="Arial MT"/>
                <a:cs typeface="Arial MT"/>
              </a:rPr>
              <a:t>27/04/2026</a:t>
            </a:r>
            <a:endParaRPr lang="pt-BR" sz="1100" dirty="0">
              <a:latin typeface="Arial MT"/>
              <a:cs typeface="Arial MT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D60066D6-B569-7F87-2266-5DA2610C2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996" y="78105"/>
            <a:ext cx="8637041" cy="430887"/>
          </a:xfrm>
        </p:spPr>
        <p:txBody>
          <a:bodyPr>
            <a:normAutofit fontScale="90000"/>
          </a:bodyPr>
          <a:lstStyle/>
          <a:p>
            <a:r>
              <a:rPr lang="pt-BR" sz="2800" spc="-10" dirty="0"/>
              <a:t>PRODUTIVIDADE EQUIPES PREVENTIVAS</a:t>
            </a:r>
            <a:endParaRPr lang="pt-BR" sz="2800" dirty="0"/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76ECF352-64E3-E472-C158-387BA0062B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8146626"/>
              </p:ext>
            </p:extLst>
          </p:nvPr>
        </p:nvGraphicFramePr>
        <p:xfrm>
          <a:off x="235228" y="854765"/>
          <a:ext cx="7785650" cy="53325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0903B8C2-EFC2-4597-E1F8-A4CC5F13B382}"/>
              </a:ext>
            </a:extLst>
          </p:cNvPr>
          <p:cNvGraphicFramePr>
            <a:graphicFrameLocks noGrp="1"/>
          </p:cNvGraphicFramePr>
          <p:nvPr/>
        </p:nvGraphicFramePr>
        <p:xfrm>
          <a:off x="8799793" y="974288"/>
          <a:ext cx="2517216" cy="1245760"/>
        </p:xfrm>
        <a:graphic>
          <a:graphicData uri="http://schemas.openxmlformats.org/drawingml/2006/table">
            <a:tbl>
              <a:tblPr/>
              <a:tblGrid>
                <a:gridCol w="867439">
                  <a:extLst>
                    <a:ext uri="{9D8B030D-6E8A-4147-A177-3AD203B41FA5}">
                      <a16:colId xmlns:a16="http://schemas.microsoft.com/office/drawing/2014/main" val="2044488510"/>
                    </a:ext>
                  </a:extLst>
                </a:gridCol>
                <a:gridCol w="499704">
                  <a:extLst>
                    <a:ext uri="{9D8B030D-6E8A-4147-A177-3AD203B41FA5}">
                      <a16:colId xmlns:a16="http://schemas.microsoft.com/office/drawing/2014/main" val="3260276491"/>
                    </a:ext>
                  </a:extLst>
                </a:gridCol>
                <a:gridCol w="469748">
                  <a:extLst>
                    <a:ext uri="{9D8B030D-6E8A-4147-A177-3AD203B41FA5}">
                      <a16:colId xmlns:a16="http://schemas.microsoft.com/office/drawing/2014/main" val="1639479597"/>
                    </a:ext>
                  </a:extLst>
                </a:gridCol>
                <a:gridCol w="680325">
                  <a:extLst>
                    <a:ext uri="{9D8B030D-6E8A-4147-A177-3AD203B41FA5}">
                      <a16:colId xmlns:a16="http://schemas.microsoft.com/office/drawing/2014/main" val="551226869"/>
                    </a:ext>
                  </a:extLst>
                </a:gridCol>
              </a:tblGrid>
              <a:tr h="208332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EFETIVO ABRIL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082033"/>
                  </a:ext>
                </a:extLst>
              </a:tr>
              <a:tr h="2083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FUNÇÃO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MBA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PBA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RFSL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816778"/>
                  </a:ext>
                </a:extLst>
              </a:tr>
              <a:tr h="2295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SERVENTE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970188"/>
                  </a:ext>
                </a:extLst>
              </a:tr>
              <a:tr h="2083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OFICIAL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635545"/>
                  </a:ext>
                </a:extLst>
              </a:tr>
              <a:tr h="208332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JORNADA MÉDIA (H)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874636"/>
                  </a:ext>
                </a:extLst>
              </a:tr>
              <a:tr h="17361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253488"/>
                  </a:ext>
                </a:extLst>
              </a:tr>
            </a:tbl>
          </a:graphicData>
        </a:graphic>
      </p:graphicFrame>
      <p:graphicFrame>
        <p:nvGraphicFramePr>
          <p:cNvPr id="23" name="Tabela 22">
            <a:extLst>
              <a:ext uri="{FF2B5EF4-FFF2-40B4-BE49-F238E27FC236}">
                <a16:creationId xmlns:a16="http://schemas.microsoft.com/office/drawing/2014/main" id="{C0E6B42E-DD7B-8C7E-82BA-C25E2B4E2C10}"/>
              </a:ext>
            </a:extLst>
          </p:cNvPr>
          <p:cNvGraphicFramePr>
            <a:graphicFrameLocks noGrp="1"/>
          </p:cNvGraphicFramePr>
          <p:nvPr/>
        </p:nvGraphicFramePr>
        <p:xfrm>
          <a:off x="8097637" y="2366517"/>
          <a:ext cx="3928714" cy="1181100"/>
        </p:xfrm>
        <a:graphic>
          <a:graphicData uri="http://schemas.openxmlformats.org/drawingml/2006/table">
            <a:tbl>
              <a:tblPr/>
              <a:tblGrid>
                <a:gridCol w="986110">
                  <a:extLst>
                    <a:ext uri="{9D8B030D-6E8A-4147-A177-3AD203B41FA5}">
                      <a16:colId xmlns:a16="http://schemas.microsoft.com/office/drawing/2014/main" val="248721287"/>
                    </a:ext>
                  </a:extLst>
                </a:gridCol>
                <a:gridCol w="988272">
                  <a:extLst>
                    <a:ext uri="{9D8B030D-6E8A-4147-A177-3AD203B41FA5}">
                      <a16:colId xmlns:a16="http://schemas.microsoft.com/office/drawing/2014/main" val="157463421"/>
                    </a:ext>
                  </a:extLst>
                </a:gridCol>
                <a:gridCol w="877228">
                  <a:extLst>
                    <a:ext uri="{9D8B030D-6E8A-4147-A177-3AD203B41FA5}">
                      <a16:colId xmlns:a16="http://schemas.microsoft.com/office/drawing/2014/main" val="1059379357"/>
                    </a:ext>
                  </a:extLst>
                </a:gridCol>
                <a:gridCol w="1077104">
                  <a:extLst>
                    <a:ext uri="{9D8B030D-6E8A-4147-A177-3AD203B41FA5}">
                      <a16:colId xmlns:a16="http://schemas.microsoft.com/office/drawing/2014/main" val="1404535110"/>
                    </a:ext>
                  </a:extLst>
                </a:gridCol>
              </a:tblGrid>
              <a:tr h="19050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MARABÁ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461501"/>
                  </a:ext>
                </a:extLst>
              </a:tr>
              <a:tr h="18288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PRODUTIVIDADE/HORA DA EQUIPE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988289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LIMPEZA CANALETA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LIMPEZA MEIO FIO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ROÇADA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REC. DE DRENAGEM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43946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34,18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10,87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300,89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2,08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679972"/>
                  </a:ext>
                </a:extLst>
              </a:tr>
              <a:tr h="23622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REGISTRO DE 2 DIAS HIMP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067240"/>
                  </a:ext>
                </a:extLst>
              </a:tr>
            </a:tbl>
          </a:graphicData>
        </a:graphic>
      </p:graphicFrame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EE694619-F721-FCB1-FD94-4AB378831BFB}"/>
              </a:ext>
            </a:extLst>
          </p:cNvPr>
          <p:cNvGraphicFramePr>
            <a:graphicFrameLocks noGrp="1"/>
          </p:cNvGraphicFramePr>
          <p:nvPr/>
        </p:nvGraphicFramePr>
        <p:xfrm>
          <a:off x="8090453" y="3678931"/>
          <a:ext cx="3935897" cy="1167240"/>
        </p:xfrm>
        <a:graphic>
          <a:graphicData uri="http://schemas.openxmlformats.org/drawingml/2006/table">
            <a:tbl>
              <a:tblPr/>
              <a:tblGrid>
                <a:gridCol w="884582">
                  <a:extLst>
                    <a:ext uri="{9D8B030D-6E8A-4147-A177-3AD203B41FA5}">
                      <a16:colId xmlns:a16="http://schemas.microsoft.com/office/drawing/2014/main" val="248721287"/>
                    </a:ext>
                  </a:extLst>
                </a:gridCol>
                <a:gridCol w="665922">
                  <a:extLst>
                    <a:ext uri="{9D8B030D-6E8A-4147-A177-3AD203B41FA5}">
                      <a16:colId xmlns:a16="http://schemas.microsoft.com/office/drawing/2014/main" val="2254762633"/>
                    </a:ext>
                  </a:extLst>
                </a:gridCol>
                <a:gridCol w="646043">
                  <a:extLst>
                    <a:ext uri="{9D8B030D-6E8A-4147-A177-3AD203B41FA5}">
                      <a16:colId xmlns:a16="http://schemas.microsoft.com/office/drawing/2014/main" val="108727051"/>
                    </a:ext>
                  </a:extLst>
                </a:gridCol>
                <a:gridCol w="1023730">
                  <a:extLst>
                    <a:ext uri="{9D8B030D-6E8A-4147-A177-3AD203B41FA5}">
                      <a16:colId xmlns:a16="http://schemas.microsoft.com/office/drawing/2014/main" val="3754954751"/>
                    </a:ext>
                  </a:extLst>
                </a:gridCol>
                <a:gridCol w="715620">
                  <a:extLst>
                    <a:ext uri="{9D8B030D-6E8A-4147-A177-3AD203B41FA5}">
                      <a16:colId xmlns:a16="http://schemas.microsoft.com/office/drawing/2014/main" val="157463421"/>
                    </a:ext>
                  </a:extLst>
                </a:gridCol>
              </a:tblGrid>
              <a:tr h="190500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PARAUAPEBAS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18461501"/>
                  </a:ext>
                </a:extLst>
              </a:tr>
              <a:tr h="182880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PRODUTIVIDADE/HORA DA EQUIPE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90988289"/>
                  </a:ext>
                </a:extLst>
              </a:tr>
              <a:tr h="601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LIMP. CANALETA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LIMP. BUEIROS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ROÇO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REC. DE DRENAGEM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SINAL.</a:t>
                      </a:r>
                    </a:p>
                    <a:p>
                      <a:pPr algn="ctr" fontAlgn="b">
                        <a:buNone/>
                      </a:pPr>
                      <a:r>
                        <a:rPr lang="pt-B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GRÁFICA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439463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22,82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0,01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165,68 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0,15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679972"/>
                  </a:ext>
                </a:extLst>
              </a:tr>
              <a:tr h="236220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REGISTRO DE 3 DIAS HIMP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71067240"/>
                  </a:ext>
                </a:extLst>
              </a:tr>
            </a:tbl>
          </a:graphicData>
        </a:graphic>
      </p:graphicFrame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5C698B2C-7EEE-9699-FEDF-7BD9CB6022C7}"/>
              </a:ext>
            </a:extLst>
          </p:cNvPr>
          <p:cNvGraphicFramePr>
            <a:graphicFrameLocks noGrp="1"/>
          </p:cNvGraphicFramePr>
          <p:nvPr/>
        </p:nvGraphicFramePr>
        <p:xfrm>
          <a:off x="8097635" y="4975764"/>
          <a:ext cx="3928716" cy="1211580"/>
        </p:xfrm>
        <a:graphic>
          <a:graphicData uri="http://schemas.openxmlformats.org/drawingml/2006/table">
            <a:tbl>
              <a:tblPr/>
              <a:tblGrid>
                <a:gridCol w="982179">
                  <a:extLst>
                    <a:ext uri="{9D8B030D-6E8A-4147-A177-3AD203B41FA5}">
                      <a16:colId xmlns:a16="http://schemas.microsoft.com/office/drawing/2014/main" val="248721287"/>
                    </a:ext>
                  </a:extLst>
                </a:gridCol>
                <a:gridCol w="982179">
                  <a:extLst>
                    <a:ext uri="{9D8B030D-6E8A-4147-A177-3AD203B41FA5}">
                      <a16:colId xmlns:a16="http://schemas.microsoft.com/office/drawing/2014/main" val="3154938101"/>
                    </a:ext>
                  </a:extLst>
                </a:gridCol>
                <a:gridCol w="982179">
                  <a:extLst>
                    <a:ext uri="{9D8B030D-6E8A-4147-A177-3AD203B41FA5}">
                      <a16:colId xmlns:a16="http://schemas.microsoft.com/office/drawing/2014/main" val="4291385220"/>
                    </a:ext>
                  </a:extLst>
                </a:gridCol>
                <a:gridCol w="982179">
                  <a:extLst>
                    <a:ext uri="{9D8B030D-6E8A-4147-A177-3AD203B41FA5}">
                      <a16:colId xmlns:a16="http://schemas.microsoft.com/office/drawing/2014/main" val="157463421"/>
                    </a:ext>
                  </a:extLst>
                </a:gridCol>
              </a:tblGrid>
              <a:tr h="19050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CANAÃ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461501"/>
                  </a:ext>
                </a:extLst>
              </a:tr>
              <a:tr h="18288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PRODUTIVIDADE/HORA DA EQUIPE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988289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LIMPEZA CANALETA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LIMPEZA   MEIO-FIO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ROÇADA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PODA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43946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6,38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0,44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131,83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1,19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679972"/>
                  </a:ext>
                </a:extLst>
              </a:tr>
              <a:tr h="23622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REGISTRO DE 2 DIAS HIMP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67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749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60BB1-B37D-B630-6A5D-AA7412AEA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05DC8FB-64D3-2DD2-9A5E-EC9F5ED417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263" b="37500"/>
          <a:stretch/>
        </p:blipFill>
        <p:spPr>
          <a:xfrm>
            <a:off x="10894958" y="6384869"/>
            <a:ext cx="1297042" cy="418125"/>
          </a:xfrm>
          <a:prstGeom prst="rect">
            <a:avLst/>
          </a:prstGeom>
        </p:spPr>
      </p:pic>
      <p:sp>
        <p:nvSpPr>
          <p:cNvPr id="6" name="object 9">
            <a:extLst>
              <a:ext uri="{FF2B5EF4-FFF2-40B4-BE49-F238E27FC236}">
                <a16:creationId xmlns:a16="http://schemas.microsoft.com/office/drawing/2014/main" id="{7C70C185-CB6D-DD85-A008-4BD2A0D29374}"/>
              </a:ext>
            </a:extLst>
          </p:cNvPr>
          <p:cNvSpPr txBox="1"/>
          <p:nvPr/>
        </p:nvSpPr>
        <p:spPr>
          <a:xfrm>
            <a:off x="9587230" y="303402"/>
            <a:ext cx="208089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100" spc="-30" dirty="0">
                <a:latin typeface="Arial MT"/>
                <a:cs typeface="Arial MT"/>
              </a:rPr>
              <a:t>Dados</a:t>
            </a:r>
            <a:r>
              <a:rPr lang="pt-BR" sz="1100" spc="-45" dirty="0">
                <a:latin typeface="Arial MT"/>
                <a:cs typeface="Arial MT"/>
              </a:rPr>
              <a:t> </a:t>
            </a:r>
            <a:r>
              <a:rPr lang="pt-BR" sz="1100" spc="-30" dirty="0">
                <a:latin typeface="Arial MT"/>
                <a:cs typeface="Arial MT"/>
              </a:rPr>
              <a:t>atualizados</a:t>
            </a:r>
            <a:r>
              <a:rPr lang="pt-BR" sz="1100" spc="-20" dirty="0">
                <a:latin typeface="Arial MT"/>
                <a:cs typeface="Arial MT"/>
              </a:rPr>
              <a:t> </a:t>
            </a:r>
            <a:r>
              <a:rPr lang="pt-BR" sz="1100" spc="-10" dirty="0">
                <a:latin typeface="Arial MT"/>
                <a:cs typeface="Arial MT"/>
              </a:rPr>
              <a:t>20/05/2026</a:t>
            </a:r>
            <a:endParaRPr lang="pt-BR" sz="1100" dirty="0">
              <a:latin typeface="Arial MT"/>
              <a:cs typeface="Arial MT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D60066D6-B569-7F87-2266-5DA2610C2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996" y="78105"/>
            <a:ext cx="8637041" cy="430887"/>
          </a:xfrm>
        </p:spPr>
        <p:txBody>
          <a:bodyPr>
            <a:normAutofit fontScale="90000"/>
          </a:bodyPr>
          <a:lstStyle/>
          <a:p>
            <a:r>
              <a:rPr lang="pt-BR" sz="2800" spc="-10" dirty="0"/>
              <a:t>PRODUTIVIDADE EQUIPES PREVENTIVAS</a:t>
            </a:r>
            <a:endParaRPr lang="pt-BR" sz="2800" dirty="0"/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76ECF352-64E3-E472-C158-387BA0062B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393299"/>
              </p:ext>
            </p:extLst>
          </p:nvPr>
        </p:nvGraphicFramePr>
        <p:xfrm>
          <a:off x="235228" y="854765"/>
          <a:ext cx="7785650" cy="53325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0903B8C2-EFC2-4597-E1F8-A4CC5F13B382}"/>
              </a:ext>
            </a:extLst>
          </p:cNvPr>
          <p:cNvGraphicFramePr>
            <a:graphicFrameLocks noGrp="1"/>
          </p:cNvGraphicFramePr>
          <p:nvPr/>
        </p:nvGraphicFramePr>
        <p:xfrm>
          <a:off x="8799793" y="738318"/>
          <a:ext cx="2517216" cy="1245760"/>
        </p:xfrm>
        <a:graphic>
          <a:graphicData uri="http://schemas.openxmlformats.org/drawingml/2006/table">
            <a:tbl>
              <a:tblPr/>
              <a:tblGrid>
                <a:gridCol w="867439">
                  <a:extLst>
                    <a:ext uri="{9D8B030D-6E8A-4147-A177-3AD203B41FA5}">
                      <a16:colId xmlns:a16="http://schemas.microsoft.com/office/drawing/2014/main" val="2044488510"/>
                    </a:ext>
                  </a:extLst>
                </a:gridCol>
                <a:gridCol w="499704">
                  <a:extLst>
                    <a:ext uri="{9D8B030D-6E8A-4147-A177-3AD203B41FA5}">
                      <a16:colId xmlns:a16="http://schemas.microsoft.com/office/drawing/2014/main" val="3260276491"/>
                    </a:ext>
                  </a:extLst>
                </a:gridCol>
                <a:gridCol w="469748">
                  <a:extLst>
                    <a:ext uri="{9D8B030D-6E8A-4147-A177-3AD203B41FA5}">
                      <a16:colId xmlns:a16="http://schemas.microsoft.com/office/drawing/2014/main" val="1639479597"/>
                    </a:ext>
                  </a:extLst>
                </a:gridCol>
                <a:gridCol w="680325">
                  <a:extLst>
                    <a:ext uri="{9D8B030D-6E8A-4147-A177-3AD203B41FA5}">
                      <a16:colId xmlns:a16="http://schemas.microsoft.com/office/drawing/2014/main" val="551226869"/>
                    </a:ext>
                  </a:extLst>
                </a:gridCol>
              </a:tblGrid>
              <a:tr h="208332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EFETIVO MAIO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082033"/>
                  </a:ext>
                </a:extLst>
              </a:tr>
              <a:tr h="2083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FUNÇÃO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MBA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PBA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RFSL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816778"/>
                  </a:ext>
                </a:extLst>
              </a:tr>
              <a:tr h="2295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SERVENTE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970188"/>
                  </a:ext>
                </a:extLst>
              </a:tr>
              <a:tr h="2083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OFICIAL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635545"/>
                  </a:ext>
                </a:extLst>
              </a:tr>
              <a:tr h="208332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JORNADA MÉDIA (H)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874636"/>
                  </a:ext>
                </a:extLst>
              </a:tr>
              <a:tr h="17361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253488"/>
                  </a:ext>
                </a:extLst>
              </a:tr>
            </a:tbl>
          </a:graphicData>
        </a:graphic>
      </p:graphicFrame>
      <p:graphicFrame>
        <p:nvGraphicFramePr>
          <p:cNvPr id="23" name="Tabela 22">
            <a:extLst>
              <a:ext uri="{FF2B5EF4-FFF2-40B4-BE49-F238E27FC236}">
                <a16:creationId xmlns:a16="http://schemas.microsoft.com/office/drawing/2014/main" id="{C0E6B42E-DD7B-8C7E-82BA-C25E2B4E2C10}"/>
              </a:ext>
            </a:extLst>
          </p:cNvPr>
          <p:cNvGraphicFramePr>
            <a:graphicFrameLocks noGrp="1"/>
          </p:cNvGraphicFramePr>
          <p:nvPr/>
        </p:nvGraphicFramePr>
        <p:xfrm>
          <a:off x="8097637" y="2130547"/>
          <a:ext cx="3928713" cy="1181100"/>
        </p:xfrm>
        <a:graphic>
          <a:graphicData uri="http://schemas.openxmlformats.org/drawingml/2006/table">
            <a:tbl>
              <a:tblPr/>
              <a:tblGrid>
                <a:gridCol w="773928">
                  <a:extLst>
                    <a:ext uri="{9D8B030D-6E8A-4147-A177-3AD203B41FA5}">
                      <a16:colId xmlns:a16="http://schemas.microsoft.com/office/drawing/2014/main" val="248721287"/>
                    </a:ext>
                  </a:extLst>
                </a:gridCol>
                <a:gridCol w="775625">
                  <a:extLst>
                    <a:ext uri="{9D8B030D-6E8A-4147-A177-3AD203B41FA5}">
                      <a16:colId xmlns:a16="http://schemas.microsoft.com/office/drawing/2014/main" val="157463421"/>
                    </a:ext>
                  </a:extLst>
                </a:gridCol>
                <a:gridCol w="688474">
                  <a:extLst>
                    <a:ext uri="{9D8B030D-6E8A-4147-A177-3AD203B41FA5}">
                      <a16:colId xmlns:a16="http://schemas.microsoft.com/office/drawing/2014/main" val="1059379357"/>
                    </a:ext>
                  </a:extLst>
                </a:gridCol>
                <a:gridCol w="1041397">
                  <a:extLst>
                    <a:ext uri="{9D8B030D-6E8A-4147-A177-3AD203B41FA5}">
                      <a16:colId xmlns:a16="http://schemas.microsoft.com/office/drawing/2014/main" val="1404535110"/>
                    </a:ext>
                  </a:extLst>
                </a:gridCol>
                <a:gridCol w="649289">
                  <a:extLst>
                    <a:ext uri="{9D8B030D-6E8A-4147-A177-3AD203B41FA5}">
                      <a16:colId xmlns:a16="http://schemas.microsoft.com/office/drawing/2014/main" val="851623756"/>
                    </a:ext>
                  </a:extLst>
                </a:gridCol>
              </a:tblGrid>
              <a:tr h="190500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MARABÁ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461501"/>
                  </a:ext>
                </a:extLst>
              </a:tr>
              <a:tr h="182880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PRODUTIVIDADE/HORA DA EQUIPE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988289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LIMPEZA CANALETA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LIMPEZA MEIO FIO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ROÇADA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REC. DE DRENAGEM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CAPINA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43946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28,06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15,29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290,86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2,75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28,80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679972"/>
                  </a:ext>
                </a:extLst>
              </a:tr>
              <a:tr h="236220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REGISTRO DE HIMP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067240"/>
                  </a:ext>
                </a:extLst>
              </a:tr>
            </a:tbl>
          </a:graphicData>
        </a:graphic>
      </p:graphicFrame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EE694619-F721-FCB1-FD94-4AB378831BFB}"/>
              </a:ext>
            </a:extLst>
          </p:cNvPr>
          <p:cNvGraphicFramePr>
            <a:graphicFrameLocks noGrp="1"/>
          </p:cNvGraphicFramePr>
          <p:nvPr/>
        </p:nvGraphicFramePr>
        <p:xfrm>
          <a:off x="8090453" y="3442961"/>
          <a:ext cx="3928714" cy="1167240"/>
        </p:xfrm>
        <a:graphic>
          <a:graphicData uri="http://schemas.openxmlformats.org/drawingml/2006/table">
            <a:tbl>
              <a:tblPr/>
              <a:tblGrid>
                <a:gridCol w="1079183">
                  <a:extLst>
                    <a:ext uri="{9D8B030D-6E8A-4147-A177-3AD203B41FA5}">
                      <a16:colId xmlns:a16="http://schemas.microsoft.com/office/drawing/2014/main" val="248721287"/>
                    </a:ext>
                  </a:extLst>
                </a:gridCol>
                <a:gridCol w="946516">
                  <a:extLst>
                    <a:ext uri="{9D8B030D-6E8A-4147-A177-3AD203B41FA5}">
                      <a16:colId xmlns:a16="http://schemas.microsoft.com/office/drawing/2014/main" val="2254762633"/>
                    </a:ext>
                  </a:extLst>
                </a:gridCol>
                <a:gridCol w="827772">
                  <a:extLst>
                    <a:ext uri="{9D8B030D-6E8A-4147-A177-3AD203B41FA5}">
                      <a16:colId xmlns:a16="http://schemas.microsoft.com/office/drawing/2014/main" val="108727051"/>
                    </a:ext>
                  </a:extLst>
                </a:gridCol>
                <a:gridCol w="1075243">
                  <a:extLst>
                    <a:ext uri="{9D8B030D-6E8A-4147-A177-3AD203B41FA5}">
                      <a16:colId xmlns:a16="http://schemas.microsoft.com/office/drawing/2014/main" val="3754954751"/>
                    </a:ext>
                  </a:extLst>
                </a:gridCol>
              </a:tblGrid>
              <a:tr h="19050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PARAUAPEBAS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461501"/>
                  </a:ext>
                </a:extLst>
              </a:tr>
              <a:tr h="18288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PRODUTIVIDADE/HORA DA EQUIPE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988289"/>
                  </a:ext>
                </a:extLst>
              </a:tr>
              <a:tr h="601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LIMP. CANALETA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LIMPEZA MEIO FIO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ROÇADA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REC. DE DRENAGEM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439463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21,98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12,81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489,23 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0,18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679972"/>
                  </a:ext>
                </a:extLst>
              </a:tr>
              <a:tr h="23622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REGISTRO DE 4 DIAS HIMP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67240"/>
                  </a:ext>
                </a:extLst>
              </a:tr>
            </a:tbl>
          </a:graphicData>
        </a:graphic>
      </p:graphicFrame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5C698B2C-7EEE-9699-FEDF-7BD9CB6022C7}"/>
              </a:ext>
            </a:extLst>
          </p:cNvPr>
          <p:cNvGraphicFramePr>
            <a:graphicFrameLocks noGrp="1"/>
          </p:cNvGraphicFramePr>
          <p:nvPr/>
        </p:nvGraphicFramePr>
        <p:xfrm>
          <a:off x="8097635" y="4739794"/>
          <a:ext cx="3928716" cy="1211580"/>
        </p:xfrm>
        <a:graphic>
          <a:graphicData uri="http://schemas.openxmlformats.org/drawingml/2006/table">
            <a:tbl>
              <a:tblPr/>
              <a:tblGrid>
                <a:gridCol w="982179">
                  <a:extLst>
                    <a:ext uri="{9D8B030D-6E8A-4147-A177-3AD203B41FA5}">
                      <a16:colId xmlns:a16="http://schemas.microsoft.com/office/drawing/2014/main" val="248721287"/>
                    </a:ext>
                  </a:extLst>
                </a:gridCol>
                <a:gridCol w="982179">
                  <a:extLst>
                    <a:ext uri="{9D8B030D-6E8A-4147-A177-3AD203B41FA5}">
                      <a16:colId xmlns:a16="http://schemas.microsoft.com/office/drawing/2014/main" val="3154938101"/>
                    </a:ext>
                  </a:extLst>
                </a:gridCol>
                <a:gridCol w="982179">
                  <a:extLst>
                    <a:ext uri="{9D8B030D-6E8A-4147-A177-3AD203B41FA5}">
                      <a16:colId xmlns:a16="http://schemas.microsoft.com/office/drawing/2014/main" val="4291385220"/>
                    </a:ext>
                  </a:extLst>
                </a:gridCol>
                <a:gridCol w="982179">
                  <a:extLst>
                    <a:ext uri="{9D8B030D-6E8A-4147-A177-3AD203B41FA5}">
                      <a16:colId xmlns:a16="http://schemas.microsoft.com/office/drawing/2014/main" val="157463421"/>
                    </a:ext>
                  </a:extLst>
                </a:gridCol>
              </a:tblGrid>
              <a:tr h="19050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CANAÃ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461501"/>
                  </a:ext>
                </a:extLst>
              </a:tr>
              <a:tr h="18288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PRODUTIVIDADE/HORA DA EQUIPE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988289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LIMPEZA CANALETA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LIMPEZA   MEIO-FIO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ROÇADA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PODA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43946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12,19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319,78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1,19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679972"/>
                  </a:ext>
                </a:extLst>
              </a:tr>
              <a:tr h="23622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REGISTRO DE 3 DIAS HIMP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67240"/>
                  </a:ext>
                </a:extLst>
              </a:tr>
            </a:tbl>
          </a:graphicData>
        </a:graphic>
      </p:graphicFrame>
      <p:sp>
        <p:nvSpPr>
          <p:cNvPr id="8" name="Retângulo 7">
            <a:extLst>
              <a:ext uri="{FF2B5EF4-FFF2-40B4-BE49-F238E27FC236}">
                <a16:creationId xmlns:a16="http://schemas.microsoft.com/office/drawing/2014/main" id="{AE69506D-3896-3B48-1B76-D8F92D422FD5}"/>
              </a:ext>
            </a:extLst>
          </p:cNvPr>
          <p:cNvSpPr/>
          <p:nvPr/>
        </p:nvSpPr>
        <p:spPr>
          <a:xfrm>
            <a:off x="8090453" y="6080967"/>
            <a:ext cx="2632090" cy="4181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b="1" u="sng" dirty="0"/>
              <a:t>PRINCIPAL CAUSA IMPRODUTIVIDADE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100" dirty="0"/>
              <a:t>CAMINHÃO EBES/VALE</a:t>
            </a:r>
            <a:endParaRPr lang="pt-BR" sz="1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02034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60BB1-B37D-B630-6A5D-AA7412AEA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05DC8FB-64D3-2DD2-9A5E-EC9F5ED417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263" b="37500"/>
          <a:stretch/>
        </p:blipFill>
        <p:spPr>
          <a:xfrm>
            <a:off x="10894958" y="6384869"/>
            <a:ext cx="1297042" cy="418125"/>
          </a:xfrm>
          <a:prstGeom prst="rect">
            <a:avLst/>
          </a:prstGeom>
        </p:spPr>
      </p:pic>
      <p:sp>
        <p:nvSpPr>
          <p:cNvPr id="6" name="object 9">
            <a:extLst>
              <a:ext uri="{FF2B5EF4-FFF2-40B4-BE49-F238E27FC236}">
                <a16:creationId xmlns:a16="http://schemas.microsoft.com/office/drawing/2014/main" id="{7C70C185-CB6D-DD85-A008-4BD2A0D29374}"/>
              </a:ext>
            </a:extLst>
          </p:cNvPr>
          <p:cNvSpPr txBox="1"/>
          <p:nvPr/>
        </p:nvSpPr>
        <p:spPr>
          <a:xfrm>
            <a:off x="9587230" y="303402"/>
            <a:ext cx="208089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100" spc="-30" dirty="0">
                <a:latin typeface="Arial MT"/>
                <a:cs typeface="Arial MT"/>
              </a:rPr>
              <a:t>Dados</a:t>
            </a:r>
            <a:r>
              <a:rPr lang="pt-BR" sz="1100" spc="-45" dirty="0">
                <a:latin typeface="Arial MT"/>
                <a:cs typeface="Arial MT"/>
              </a:rPr>
              <a:t> </a:t>
            </a:r>
            <a:r>
              <a:rPr lang="pt-BR" sz="1100" spc="-30" dirty="0">
                <a:latin typeface="Arial MT"/>
                <a:cs typeface="Arial MT"/>
              </a:rPr>
              <a:t>atualizados</a:t>
            </a:r>
            <a:r>
              <a:rPr lang="pt-BR" sz="1100" spc="-20" dirty="0">
                <a:latin typeface="Arial MT"/>
                <a:cs typeface="Arial MT"/>
              </a:rPr>
              <a:t> </a:t>
            </a:r>
            <a:r>
              <a:rPr lang="pt-BR" sz="1100" spc="-10" dirty="0">
                <a:latin typeface="Arial MT"/>
                <a:cs typeface="Arial MT"/>
              </a:rPr>
              <a:t>02/07/2026</a:t>
            </a:r>
            <a:endParaRPr lang="pt-BR" sz="1100" dirty="0">
              <a:latin typeface="Arial MT"/>
              <a:cs typeface="Arial MT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D60066D6-B569-7F87-2266-5DA2610C2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996" y="78105"/>
            <a:ext cx="8637041" cy="430887"/>
          </a:xfrm>
        </p:spPr>
        <p:txBody>
          <a:bodyPr>
            <a:normAutofit fontScale="90000"/>
          </a:bodyPr>
          <a:lstStyle/>
          <a:p>
            <a:r>
              <a:rPr lang="pt-BR" sz="2800" spc="-10" dirty="0"/>
              <a:t>PRODUTIVIDADE EQUIPES PREVENTIVAS</a:t>
            </a:r>
            <a:endParaRPr lang="pt-BR" sz="2800" dirty="0"/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76ECF352-64E3-E472-C158-387BA0062B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4612942"/>
              </p:ext>
            </p:extLst>
          </p:nvPr>
        </p:nvGraphicFramePr>
        <p:xfrm>
          <a:off x="157317" y="1032387"/>
          <a:ext cx="8367252" cy="57026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0903B8C2-EFC2-4597-E1F8-A4CC5F13B382}"/>
              </a:ext>
            </a:extLst>
          </p:cNvPr>
          <p:cNvGraphicFramePr>
            <a:graphicFrameLocks noGrp="1"/>
          </p:cNvGraphicFramePr>
          <p:nvPr/>
        </p:nvGraphicFramePr>
        <p:xfrm>
          <a:off x="9016103" y="689155"/>
          <a:ext cx="2517216" cy="1245760"/>
        </p:xfrm>
        <a:graphic>
          <a:graphicData uri="http://schemas.openxmlformats.org/drawingml/2006/table">
            <a:tbl>
              <a:tblPr/>
              <a:tblGrid>
                <a:gridCol w="867439">
                  <a:extLst>
                    <a:ext uri="{9D8B030D-6E8A-4147-A177-3AD203B41FA5}">
                      <a16:colId xmlns:a16="http://schemas.microsoft.com/office/drawing/2014/main" val="2044488510"/>
                    </a:ext>
                  </a:extLst>
                </a:gridCol>
                <a:gridCol w="499704">
                  <a:extLst>
                    <a:ext uri="{9D8B030D-6E8A-4147-A177-3AD203B41FA5}">
                      <a16:colId xmlns:a16="http://schemas.microsoft.com/office/drawing/2014/main" val="3260276491"/>
                    </a:ext>
                  </a:extLst>
                </a:gridCol>
                <a:gridCol w="469748">
                  <a:extLst>
                    <a:ext uri="{9D8B030D-6E8A-4147-A177-3AD203B41FA5}">
                      <a16:colId xmlns:a16="http://schemas.microsoft.com/office/drawing/2014/main" val="1639479597"/>
                    </a:ext>
                  </a:extLst>
                </a:gridCol>
                <a:gridCol w="680325">
                  <a:extLst>
                    <a:ext uri="{9D8B030D-6E8A-4147-A177-3AD203B41FA5}">
                      <a16:colId xmlns:a16="http://schemas.microsoft.com/office/drawing/2014/main" val="551226869"/>
                    </a:ext>
                  </a:extLst>
                </a:gridCol>
              </a:tblGrid>
              <a:tr h="208332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EFETIVO JUNHO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082033"/>
                  </a:ext>
                </a:extLst>
              </a:tr>
              <a:tr h="2083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FUNÇÃO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MBA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PBA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RFSL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816778"/>
                  </a:ext>
                </a:extLst>
              </a:tr>
              <a:tr h="2295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SERVENTE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970188"/>
                  </a:ext>
                </a:extLst>
              </a:tr>
              <a:tr h="2083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OFICIAL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635545"/>
                  </a:ext>
                </a:extLst>
              </a:tr>
              <a:tr h="208332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JORNADA MÉDIA (H)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874636"/>
                  </a:ext>
                </a:extLst>
              </a:tr>
              <a:tr h="17361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253488"/>
                  </a:ext>
                </a:extLst>
              </a:tr>
            </a:tbl>
          </a:graphicData>
        </a:graphic>
      </p:graphicFrame>
      <p:graphicFrame>
        <p:nvGraphicFramePr>
          <p:cNvPr id="23" name="Tabela 22">
            <a:extLst>
              <a:ext uri="{FF2B5EF4-FFF2-40B4-BE49-F238E27FC236}">
                <a16:creationId xmlns:a16="http://schemas.microsoft.com/office/drawing/2014/main" id="{C0E6B42E-DD7B-8C7E-82BA-C25E2B4E2C10}"/>
              </a:ext>
            </a:extLst>
          </p:cNvPr>
          <p:cNvGraphicFramePr>
            <a:graphicFrameLocks noGrp="1"/>
          </p:cNvGraphicFramePr>
          <p:nvPr/>
        </p:nvGraphicFramePr>
        <p:xfrm>
          <a:off x="8625736" y="2025180"/>
          <a:ext cx="3297950" cy="1104900"/>
        </p:xfrm>
        <a:graphic>
          <a:graphicData uri="http://schemas.openxmlformats.org/drawingml/2006/table">
            <a:tbl>
              <a:tblPr/>
              <a:tblGrid>
                <a:gridCol w="1698135">
                  <a:extLst>
                    <a:ext uri="{9D8B030D-6E8A-4147-A177-3AD203B41FA5}">
                      <a16:colId xmlns:a16="http://schemas.microsoft.com/office/drawing/2014/main" val="248721287"/>
                    </a:ext>
                  </a:extLst>
                </a:gridCol>
                <a:gridCol w="1599815">
                  <a:extLst>
                    <a:ext uri="{9D8B030D-6E8A-4147-A177-3AD203B41FA5}">
                      <a16:colId xmlns:a16="http://schemas.microsoft.com/office/drawing/2014/main" val="157463421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MARABÁ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461501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IMPRODUTIVIDADE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988289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QTD EM DIAS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QTD EM HORAS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43946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/>
                        <a:t>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679972"/>
                  </a:ext>
                </a:extLst>
              </a:tr>
              <a:tr h="23622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HORA IMPRODUTIVA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67240"/>
                  </a:ext>
                </a:extLst>
              </a:tr>
            </a:tbl>
          </a:graphicData>
        </a:graphic>
      </p:graphicFrame>
      <p:sp>
        <p:nvSpPr>
          <p:cNvPr id="8" name="Retângulo 7">
            <a:extLst>
              <a:ext uri="{FF2B5EF4-FFF2-40B4-BE49-F238E27FC236}">
                <a16:creationId xmlns:a16="http://schemas.microsoft.com/office/drawing/2014/main" id="{AE69506D-3896-3B48-1B76-D8F92D422FD5}"/>
              </a:ext>
            </a:extLst>
          </p:cNvPr>
          <p:cNvSpPr/>
          <p:nvPr/>
        </p:nvSpPr>
        <p:spPr>
          <a:xfrm>
            <a:off x="8625736" y="6276711"/>
            <a:ext cx="2277539" cy="4181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u="sng" dirty="0"/>
              <a:t>CAUSA DA IMPRODUTIVIDADE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CAMINHÃO EBES/VALE</a:t>
            </a:r>
            <a:endParaRPr lang="pt-BR" sz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4A06F6EF-1719-9806-044D-E2E9C9BA1040}"/>
              </a:ext>
            </a:extLst>
          </p:cNvPr>
          <p:cNvGraphicFramePr>
            <a:graphicFrameLocks noGrp="1"/>
          </p:cNvGraphicFramePr>
          <p:nvPr/>
        </p:nvGraphicFramePr>
        <p:xfrm>
          <a:off x="8625736" y="3377569"/>
          <a:ext cx="3297950" cy="1051560"/>
        </p:xfrm>
        <a:graphic>
          <a:graphicData uri="http://schemas.openxmlformats.org/drawingml/2006/table">
            <a:tbl>
              <a:tblPr/>
              <a:tblGrid>
                <a:gridCol w="1707967">
                  <a:extLst>
                    <a:ext uri="{9D8B030D-6E8A-4147-A177-3AD203B41FA5}">
                      <a16:colId xmlns:a16="http://schemas.microsoft.com/office/drawing/2014/main" val="248721287"/>
                    </a:ext>
                  </a:extLst>
                </a:gridCol>
                <a:gridCol w="1589983">
                  <a:extLst>
                    <a:ext uri="{9D8B030D-6E8A-4147-A177-3AD203B41FA5}">
                      <a16:colId xmlns:a16="http://schemas.microsoft.com/office/drawing/2014/main" val="157463421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PARAUAPEBAS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461501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IMPRODUTIVIDADE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988289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QTD EM DIAS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QTD EM HORAS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43946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/>
                        <a:t> 165,00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679972"/>
                  </a:ext>
                </a:extLst>
              </a:tr>
              <a:tr h="170647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 ATIVIDADE DE LIMPEZA DE BUEIRO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67240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59FE7C11-D064-1BFC-A277-14BC43CC4909}"/>
              </a:ext>
            </a:extLst>
          </p:cNvPr>
          <p:cNvGraphicFramePr>
            <a:graphicFrameLocks noGrp="1"/>
          </p:cNvGraphicFramePr>
          <p:nvPr/>
        </p:nvGraphicFramePr>
        <p:xfrm>
          <a:off x="8625736" y="4653557"/>
          <a:ext cx="3297950" cy="1417320"/>
        </p:xfrm>
        <a:graphic>
          <a:graphicData uri="http://schemas.openxmlformats.org/drawingml/2006/table">
            <a:tbl>
              <a:tblPr/>
              <a:tblGrid>
                <a:gridCol w="1698135">
                  <a:extLst>
                    <a:ext uri="{9D8B030D-6E8A-4147-A177-3AD203B41FA5}">
                      <a16:colId xmlns:a16="http://schemas.microsoft.com/office/drawing/2014/main" val="248721287"/>
                    </a:ext>
                  </a:extLst>
                </a:gridCol>
                <a:gridCol w="1599815">
                  <a:extLst>
                    <a:ext uri="{9D8B030D-6E8A-4147-A177-3AD203B41FA5}">
                      <a16:colId xmlns:a16="http://schemas.microsoft.com/office/drawing/2014/main" val="157463421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CANAÃ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461501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IMPRODUTIVIDADE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988289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QTD EM DIAS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QTD EM HORAS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43946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/>
                        <a:t>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679972"/>
                  </a:ext>
                </a:extLst>
              </a:tr>
              <a:tr h="23622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 LIMPEZA DE BUEIRO/VALA, REMOÇAO DE SOLO E CORTE DE ÁRVORE</a:t>
                      </a:r>
                    </a:p>
                    <a:p>
                      <a:pPr algn="ct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HORA IMPRODUTIVA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67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8897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652</Words>
  <Application>Microsoft Office PowerPoint</Application>
  <PresentationFormat>Widescreen</PresentationFormat>
  <Paragraphs>303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Aptos Narrow</vt:lpstr>
      <vt:lpstr>Arial</vt:lpstr>
      <vt:lpstr>Arial MT</vt:lpstr>
      <vt:lpstr>Tema do Office</vt:lpstr>
      <vt:lpstr>PRODUTIVIDADE EQUIPES PREVENTIVAS</vt:lpstr>
      <vt:lpstr>PRODUTIVIDADE EQUIPES PREVENTIVAS</vt:lpstr>
      <vt:lpstr>PRODUTIVIDADE EQUIPES PREVENTIVAS</vt:lpstr>
      <vt:lpstr>PRODUTIVIDADE EQUIPES PREVENTIVAS</vt:lpstr>
      <vt:lpstr>PRODUTIVIDADE EQUIPES PREVENTIVAS</vt:lpstr>
      <vt:lpstr>PRODUTIVIDADE EQUIPES PREVENTIVAS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Cristiane Silva</dc:creator>
  <cp:lastModifiedBy>Cristiane Silva</cp:lastModifiedBy>
  <cp:revision>7</cp:revision>
  <dcterms:created xsi:type="dcterms:W3CDTF">2026-07-15T13:03:20Z</dcterms:created>
  <dcterms:modified xsi:type="dcterms:W3CDTF">2026-07-15T17:18:08Z</dcterms:modified>
</cp:coreProperties>
</file>